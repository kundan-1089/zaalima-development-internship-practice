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2" r:id="rId14"/>
    <p:sldId id="273" r:id="rId15"/>
    <p:sldId id="268" r:id="rId16"/>
    <p:sldId id="269" r:id="rId17"/>
    <p:sldId id="270" r:id="rId18"/>
    <p:sldId id="271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660C42-77E7-4DDF-B76D-21664DC327FD}" v="50" dt="2026-06-03T12:00:11.2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737" autoAdjust="0"/>
  </p:normalViewPr>
  <p:slideViewPr>
    <p:cSldViewPr snapToGrid="0" snapToObjects="1">
      <p:cViewPr varScale="1">
        <p:scale>
          <a:sx n="78" d="100"/>
          <a:sy n="78" d="100"/>
        </p:scale>
        <p:origin x="159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fzal rangrej" userId="15d7d8049aa642b7" providerId="LiveId" clId="{35D2072F-A876-457F-B89A-E37866911419}"/>
    <pc:docChg chg="undo custSel modSld">
      <pc:chgData name="afzal rangrej" userId="15d7d8049aa642b7" providerId="LiveId" clId="{35D2072F-A876-457F-B89A-E37866911419}" dt="2026-06-03T12:00:24.973" v="396" actId="14100"/>
      <pc:docMkLst>
        <pc:docMk/>
      </pc:docMkLst>
      <pc:sldChg chg="modSp mod">
        <pc:chgData name="afzal rangrej" userId="15d7d8049aa642b7" providerId="LiveId" clId="{35D2072F-A876-457F-B89A-E37866911419}" dt="2026-06-03T11:33:42.283" v="128" actId="12"/>
        <pc:sldMkLst>
          <pc:docMk/>
          <pc:sldMk cId="0" sldId="256"/>
        </pc:sldMkLst>
        <pc:spChg chg="mod">
          <ac:chgData name="afzal rangrej" userId="15d7d8049aa642b7" providerId="LiveId" clId="{35D2072F-A876-457F-B89A-E37866911419}" dt="2026-06-03T10:47:45.138" v="0"/>
          <ac:spMkLst>
            <pc:docMk/>
            <pc:sldMk cId="0" sldId="256"/>
            <ac:spMk id="2" creationId="{00000000-0000-0000-0000-000000000000}"/>
          </ac:spMkLst>
        </pc:spChg>
        <pc:spChg chg="mod">
          <ac:chgData name="afzal rangrej" userId="15d7d8049aa642b7" providerId="LiveId" clId="{35D2072F-A876-457F-B89A-E37866911419}" dt="2026-06-03T11:33:42.283" v="128" actId="12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afzal rangrej" userId="15d7d8049aa642b7" providerId="LiveId" clId="{35D2072F-A876-457F-B89A-E37866911419}" dt="2026-06-03T11:33:47.986" v="129" actId="12"/>
        <pc:sldMkLst>
          <pc:docMk/>
          <pc:sldMk cId="0" sldId="257"/>
        </pc:sldMkLst>
        <pc:spChg chg="mod">
          <ac:chgData name="afzal rangrej" userId="15d7d8049aa642b7" providerId="LiveId" clId="{35D2072F-A876-457F-B89A-E37866911419}" dt="2026-06-03T10:47:45.138" v="0"/>
          <ac:spMkLst>
            <pc:docMk/>
            <pc:sldMk cId="0" sldId="257"/>
            <ac:spMk id="2" creationId="{00000000-0000-0000-0000-000000000000}"/>
          </ac:spMkLst>
        </pc:spChg>
        <pc:spChg chg="mod">
          <ac:chgData name="afzal rangrej" userId="15d7d8049aa642b7" providerId="LiveId" clId="{35D2072F-A876-457F-B89A-E37866911419}" dt="2026-06-03T11:33:47.986" v="129" actId="12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afzal rangrej" userId="15d7d8049aa642b7" providerId="LiveId" clId="{35D2072F-A876-457F-B89A-E37866911419}" dt="2026-06-03T11:33:53.441" v="130" actId="12"/>
        <pc:sldMkLst>
          <pc:docMk/>
          <pc:sldMk cId="0" sldId="258"/>
        </pc:sldMkLst>
        <pc:spChg chg="mod">
          <ac:chgData name="afzal rangrej" userId="15d7d8049aa642b7" providerId="LiveId" clId="{35D2072F-A876-457F-B89A-E37866911419}" dt="2026-06-03T10:47:45.138" v="0"/>
          <ac:spMkLst>
            <pc:docMk/>
            <pc:sldMk cId="0" sldId="258"/>
            <ac:spMk id="2" creationId="{00000000-0000-0000-0000-000000000000}"/>
          </ac:spMkLst>
        </pc:spChg>
        <pc:spChg chg="mod">
          <ac:chgData name="afzal rangrej" userId="15d7d8049aa642b7" providerId="LiveId" clId="{35D2072F-A876-457F-B89A-E37866911419}" dt="2026-06-03T11:33:53.441" v="130" actId="12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afzal rangrej" userId="15d7d8049aa642b7" providerId="LiveId" clId="{35D2072F-A876-457F-B89A-E37866911419}" dt="2026-06-03T11:34:00.356" v="131" actId="12"/>
        <pc:sldMkLst>
          <pc:docMk/>
          <pc:sldMk cId="0" sldId="259"/>
        </pc:sldMkLst>
        <pc:spChg chg="mod">
          <ac:chgData name="afzal rangrej" userId="15d7d8049aa642b7" providerId="LiveId" clId="{35D2072F-A876-457F-B89A-E37866911419}" dt="2026-06-03T10:47:45.138" v="0"/>
          <ac:spMkLst>
            <pc:docMk/>
            <pc:sldMk cId="0" sldId="259"/>
            <ac:spMk id="2" creationId="{00000000-0000-0000-0000-000000000000}"/>
          </ac:spMkLst>
        </pc:spChg>
        <pc:spChg chg="mod">
          <ac:chgData name="afzal rangrej" userId="15d7d8049aa642b7" providerId="LiveId" clId="{35D2072F-A876-457F-B89A-E37866911419}" dt="2026-06-03T11:34:00.356" v="131" actId="12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afzal rangrej" userId="15d7d8049aa642b7" providerId="LiveId" clId="{35D2072F-A876-457F-B89A-E37866911419}" dt="2026-06-03T11:35:37.829" v="168" actId="20577"/>
        <pc:sldMkLst>
          <pc:docMk/>
          <pc:sldMk cId="0" sldId="260"/>
        </pc:sldMkLst>
        <pc:spChg chg="mod">
          <ac:chgData name="afzal rangrej" userId="15d7d8049aa642b7" providerId="LiveId" clId="{35D2072F-A876-457F-B89A-E37866911419}" dt="2026-06-03T10:47:45.138" v="0"/>
          <ac:spMkLst>
            <pc:docMk/>
            <pc:sldMk cId="0" sldId="260"/>
            <ac:spMk id="2" creationId="{00000000-0000-0000-0000-000000000000}"/>
          </ac:spMkLst>
        </pc:spChg>
        <pc:spChg chg="mod">
          <ac:chgData name="afzal rangrej" userId="15d7d8049aa642b7" providerId="LiveId" clId="{35D2072F-A876-457F-B89A-E37866911419}" dt="2026-06-03T11:35:37.829" v="168" actId="20577"/>
          <ac:spMkLst>
            <pc:docMk/>
            <pc:sldMk cId="0" sldId="260"/>
            <ac:spMk id="3" creationId="{00000000-0000-0000-0000-000000000000}"/>
          </ac:spMkLst>
        </pc:spChg>
      </pc:sldChg>
      <pc:sldChg chg="modSp mod">
        <pc:chgData name="afzal rangrej" userId="15d7d8049aa642b7" providerId="LiveId" clId="{35D2072F-A876-457F-B89A-E37866911419}" dt="2026-06-03T11:39:24.852" v="246" actId="20577"/>
        <pc:sldMkLst>
          <pc:docMk/>
          <pc:sldMk cId="0" sldId="261"/>
        </pc:sldMkLst>
        <pc:spChg chg="mod">
          <ac:chgData name="afzal rangrej" userId="15d7d8049aa642b7" providerId="LiveId" clId="{35D2072F-A876-457F-B89A-E37866911419}" dt="2026-06-03T10:47:45.138" v="0"/>
          <ac:spMkLst>
            <pc:docMk/>
            <pc:sldMk cId="0" sldId="261"/>
            <ac:spMk id="2" creationId="{00000000-0000-0000-0000-000000000000}"/>
          </ac:spMkLst>
        </pc:spChg>
        <pc:spChg chg="mod">
          <ac:chgData name="afzal rangrej" userId="15d7d8049aa642b7" providerId="LiveId" clId="{35D2072F-A876-457F-B89A-E37866911419}" dt="2026-06-03T11:39:24.852" v="246" actId="20577"/>
          <ac:spMkLst>
            <pc:docMk/>
            <pc:sldMk cId="0" sldId="261"/>
            <ac:spMk id="3" creationId="{00000000-0000-0000-0000-000000000000}"/>
          </ac:spMkLst>
        </pc:spChg>
      </pc:sldChg>
      <pc:sldChg chg="addSp delSp modSp mod">
        <pc:chgData name="afzal rangrej" userId="15d7d8049aa642b7" providerId="LiveId" clId="{35D2072F-A876-457F-B89A-E37866911419}" dt="2026-06-03T11:49:49.297" v="276" actId="1076"/>
        <pc:sldMkLst>
          <pc:docMk/>
          <pc:sldMk cId="0" sldId="262"/>
        </pc:sldMkLst>
        <pc:spChg chg="mod">
          <ac:chgData name="afzal rangrej" userId="15d7d8049aa642b7" providerId="LiveId" clId="{35D2072F-A876-457F-B89A-E37866911419}" dt="2026-06-03T11:39:49.274" v="247" actId="255"/>
          <ac:spMkLst>
            <pc:docMk/>
            <pc:sldMk cId="0" sldId="262"/>
            <ac:spMk id="2" creationId="{00000000-0000-0000-0000-000000000000}"/>
          </ac:spMkLst>
        </pc:spChg>
        <pc:spChg chg="del mod">
          <ac:chgData name="afzal rangrej" userId="15d7d8049aa642b7" providerId="LiveId" clId="{35D2072F-A876-457F-B89A-E37866911419}" dt="2026-06-03T11:46:06.062" v="253" actId="931"/>
          <ac:spMkLst>
            <pc:docMk/>
            <pc:sldMk cId="0" sldId="262"/>
            <ac:spMk id="3" creationId="{00000000-0000-0000-0000-000000000000}"/>
          </ac:spMkLst>
        </pc:spChg>
        <pc:picChg chg="add mod ord">
          <ac:chgData name="afzal rangrej" userId="15d7d8049aa642b7" providerId="LiveId" clId="{35D2072F-A876-457F-B89A-E37866911419}" dt="2026-06-03T11:49:49.297" v="276" actId="1076"/>
          <ac:picMkLst>
            <pc:docMk/>
            <pc:sldMk cId="0" sldId="262"/>
            <ac:picMk id="5" creationId="{9EF51555-D904-9FEA-A413-26586C49A955}"/>
          </ac:picMkLst>
        </pc:picChg>
      </pc:sldChg>
      <pc:sldChg chg="modSp mod">
        <pc:chgData name="afzal rangrej" userId="15d7d8049aa642b7" providerId="LiveId" clId="{35D2072F-A876-457F-B89A-E37866911419}" dt="2026-06-03T11:48:53.946" v="266" actId="14100"/>
        <pc:sldMkLst>
          <pc:docMk/>
          <pc:sldMk cId="0" sldId="263"/>
        </pc:sldMkLst>
        <pc:spChg chg="mod">
          <ac:chgData name="afzal rangrej" userId="15d7d8049aa642b7" providerId="LiveId" clId="{35D2072F-A876-457F-B89A-E37866911419}" dt="2026-06-03T10:47:45.138" v="0"/>
          <ac:spMkLst>
            <pc:docMk/>
            <pc:sldMk cId="0" sldId="263"/>
            <ac:spMk id="2" creationId="{00000000-0000-0000-0000-000000000000}"/>
          </ac:spMkLst>
        </pc:spChg>
        <pc:spChg chg="mod">
          <ac:chgData name="afzal rangrej" userId="15d7d8049aa642b7" providerId="LiveId" clId="{35D2072F-A876-457F-B89A-E37866911419}" dt="2026-06-03T11:48:53.946" v="266" actId="14100"/>
          <ac:spMkLst>
            <pc:docMk/>
            <pc:sldMk cId="0" sldId="263"/>
            <ac:spMk id="3" creationId="{00000000-0000-0000-0000-000000000000}"/>
          </ac:spMkLst>
        </pc:spChg>
      </pc:sldChg>
      <pc:sldChg chg="addSp delSp modSp mod">
        <pc:chgData name="afzal rangrej" userId="15d7d8049aa642b7" providerId="LiveId" clId="{35D2072F-A876-457F-B89A-E37866911419}" dt="2026-06-03T11:49:45.621" v="275" actId="1076"/>
        <pc:sldMkLst>
          <pc:docMk/>
          <pc:sldMk cId="0" sldId="264"/>
        </pc:sldMkLst>
        <pc:spChg chg="mod">
          <ac:chgData name="afzal rangrej" userId="15d7d8049aa642b7" providerId="LiveId" clId="{35D2072F-A876-457F-B89A-E37866911419}" dt="2026-06-03T11:49:29.614" v="272" actId="255"/>
          <ac:spMkLst>
            <pc:docMk/>
            <pc:sldMk cId="0" sldId="264"/>
            <ac:spMk id="2" creationId="{00000000-0000-0000-0000-000000000000}"/>
          </ac:spMkLst>
        </pc:spChg>
        <pc:spChg chg="del mod">
          <ac:chgData name="afzal rangrej" userId="15d7d8049aa642b7" providerId="LiveId" clId="{35D2072F-A876-457F-B89A-E37866911419}" dt="2026-06-03T11:49:40.365" v="274" actId="931"/>
          <ac:spMkLst>
            <pc:docMk/>
            <pc:sldMk cId="0" sldId="264"/>
            <ac:spMk id="3" creationId="{00000000-0000-0000-0000-000000000000}"/>
          </ac:spMkLst>
        </pc:spChg>
        <pc:picChg chg="add mod ord">
          <ac:chgData name="afzal rangrej" userId="15d7d8049aa642b7" providerId="LiveId" clId="{35D2072F-A876-457F-B89A-E37866911419}" dt="2026-06-03T11:49:45.621" v="275" actId="1076"/>
          <ac:picMkLst>
            <pc:docMk/>
            <pc:sldMk cId="0" sldId="264"/>
            <ac:picMk id="5" creationId="{ADC7FAEB-63F1-7A38-A061-318A76F461E5}"/>
          </ac:picMkLst>
        </pc:picChg>
      </pc:sldChg>
      <pc:sldChg chg="modSp mod">
        <pc:chgData name="afzal rangrej" userId="15d7d8049aa642b7" providerId="LiveId" clId="{35D2072F-A876-457F-B89A-E37866911419}" dt="2026-06-03T11:58:40.823" v="361" actId="255"/>
        <pc:sldMkLst>
          <pc:docMk/>
          <pc:sldMk cId="0" sldId="265"/>
        </pc:sldMkLst>
        <pc:spChg chg="mod">
          <ac:chgData name="afzal rangrej" userId="15d7d8049aa642b7" providerId="LiveId" clId="{35D2072F-A876-457F-B89A-E37866911419}" dt="2026-06-03T11:53:07.585" v="302" actId="122"/>
          <ac:spMkLst>
            <pc:docMk/>
            <pc:sldMk cId="0" sldId="265"/>
            <ac:spMk id="2" creationId="{00000000-0000-0000-0000-000000000000}"/>
          </ac:spMkLst>
        </pc:spChg>
        <pc:spChg chg="mod">
          <ac:chgData name="afzal rangrej" userId="15d7d8049aa642b7" providerId="LiveId" clId="{35D2072F-A876-457F-B89A-E37866911419}" dt="2026-06-03T11:58:40.823" v="361" actId="255"/>
          <ac:spMkLst>
            <pc:docMk/>
            <pc:sldMk cId="0" sldId="265"/>
            <ac:spMk id="3" creationId="{00000000-0000-0000-0000-000000000000}"/>
          </ac:spMkLst>
        </pc:spChg>
      </pc:sldChg>
      <pc:sldChg chg="addSp delSp modSp mod">
        <pc:chgData name="afzal rangrej" userId="15d7d8049aa642b7" providerId="LiveId" clId="{35D2072F-A876-457F-B89A-E37866911419}" dt="2026-06-03T11:53:55.386" v="310" actId="14100"/>
        <pc:sldMkLst>
          <pc:docMk/>
          <pc:sldMk cId="0" sldId="266"/>
        </pc:sldMkLst>
        <pc:spChg chg="mod">
          <ac:chgData name="afzal rangrej" userId="15d7d8049aa642b7" providerId="LiveId" clId="{35D2072F-A876-457F-B89A-E37866911419}" dt="2026-06-03T11:52:59.384" v="301" actId="122"/>
          <ac:spMkLst>
            <pc:docMk/>
            <pc:sldMk cId="0" sldId="266"/>
            <ac:spMk id="2" creationId="{00000000-0000-0000-0000-000000000000}"/>
          </ac:spMkLst>
        </pc:spChg>
        <pc:spChg chg="del mod">
          <ac:chgData name="afzal rangrej" userId="15d7d8049aa642b7" providerId="LiveId" clId="{35D2072F-A876-457F-B89A-E37866911419}" dt="2026-06-03T11:53:27.878" v="304" actId="931"/>
          <ac:spMkLst>
            <pc:docMk/>
            <pc:sldMk cId="0" sldId="266"/>
            <ac:spMk id="3" creationId="{00000000-0000-0000-0000-000000000000}"/>
          </ac:spMkLst>
        </pc:spChg>
        <pc:picChg chg="add mod ord">
          <ac:chgData name="afzal rangrej" userId="15d7d8049aa642b7" providerId="LiveId" clId="{35D2072F-A876-457F-B89A-E37866911419}" dt="2026-06-03T11:53:55.386" v="310" actId="14100"/>
          <ac:picMkLst>
            <pc:docMk/>
            <pc:sldMk cId="0" sldId="266"/>
            <ac:picMk id="5" creationId="{3FC7BF5D-5B04-7E20-C08D-6F35E0F32574}"/>
          </ac:picMkLst>
        </pc:picChg>
      </pc:sldChg>
      <pc:sldChg chg="modSp mod">
        <pc:chgData name="afzal rangrej" userId="15d7d8049aa642b7" providerId="LiveId" clId="{35D2072F-A876-457F-B89A-E37866911419}" dt="2026-06-03T12:00:24.973" v="396" actId="14100"/>
        <pc:sldMkLst>
          <pc:docMk/>
          <pc:sldMk cId="0" sldId="267"/>
        </pc:sldMkLst>
        <pc:spChg chg="mod">
          <ac:chgData name="afzal rangrej" userId="15d7d8049aa642b7" providerId="LiveId" clId="{35D2072F-A876-457F-B89A-E37866911419}" dt="2026-06-03T10:47:45.138" v="0"/>
          <ac:spMkLst>
            <pc:docMk/>
            <pc:sldMk cId="0" sldId="267"/>
            <ac:spMk id="2" creationId="{00000000-0000-0000-0000-000000000000}"/>
          </ac:spMkLst>
        </pc:spChg>
        <pc:spChg chg="mod">
          <ac:chgData name="afzal rangrej" userId="15d7d8049aa642b7" providerId="LiveId" clId="{35D2072F-A876-457F-B89A-E37866911419}" dt="2026-06-03T12:00:24.973" v="396" actId="14100"/>
          <ac:spMkLst>
            <pc:docMk/>
            <pc:sldMk cId="0" sldId="267"/>
            <ac:spMk id="3" creationId="{00000000-0000-0000-0000-000000000000}"/>
          </ac:spMkLst>
        </pc:spChg>
      </pc:sldChg>
      <pc:sldChg chg="modSp">
        <pc:chgData name="afzal rangrej" userId="15d7d8049aa642b7" providerId="LiveId" clId="{35D2072F-A876-457F-B89A-E37866911419}" dt="2026-06-03T10:47:45.138" v="0"/>
        <pc:sldMkLst>
          <pc:docMk/>
          <pc:sldMk cId="0" sldId="268"/>
        </pc:sldMkLst>
        <pc:spChg chg="mod">
          <ac:chgData name="afzal rangrej" userId="15d7d8049aa642b7" providerId="LiveId" clId="{35D2072F-A876-457F-B89A-E37866911419}" dt="2026-06-03T10:47:45.138" v="0"/>
          <ac:spMkLst>
            <pc:docMk/>
            <pc:sldMk cId="0" sldId="268"/>
            <ac:spMk id="2" creationId="{00000000-0000-0000-0000-000000000000}"/>
          </ac:spMkLst>
        </pc:spChg>
        <pc:spChg chg="mod">
          <ac:chgData name="afzal rangrej" userId="15d7d8049aa642b7" providerId="LiveId" clId="{35D2072F-A876-457F-B89A-E37866911419}" dt="2026-06-03T10:47:45.138" v="0"/>
          <ac:spMkLst>
            <pc:docMk/>
            <pc:sldMk cId="0" sldId="268"/>
            <ac:spMk id="3" creationId="{00000000-0000-0000-0000-000000000000}"/>
          </ac:spMkLst>
        </pc:spChg>
      </pc:sldChg>
      <pc:sldChg chg="modSp">
        <pc:chgData name="afzal rangrej" userId="15d7d8049aa642b7" providerId="LiveId" clId="{35D2072F-A876-457F-B89A-E37866911419}" dt="2026-06-03T10:47:45.138" v="0"/>
        <pc:sldMkLst>
          <pc:docMk/>
          <pc:sldMk cId="0" sldId="269"/>
        </pc:sldMkLst>
        <pc:spChg chg="mod">
          <ac:chgData name="afzal rangrej" userId="15d7d8049aa642b7" providerId="LiveId" clId="{35D2072F-A876-457F-B89A-E37866911419}" dt="2026-06-03T10:47:45.138" v="0"/>
          <ac:spMkLst>
            <pc:docMk/>
            <pc:sldMk cId="0" sldId="269"/>
            <ac:spMk id="2" creationId="{00000000-0000-0000-0000-000000000000}"/>
          </ac:spMkLst>
        </pc:spChg>
        <pc:spChg chg="mod">
          <ac:chgData name="afzal rangrej" userId="15d7d8049aa642b7" providerId="LiveId" clId="{35D2072F-A876-457F-B89A-E37866911419}" dt="2026-06-03T10:47:45.138" v="0"/>
          <ac:spMkLst>
            <pc:docMk/>
            <pc:sldMk cId="0" sldId="269"/>
            <ac:spMk id="3" creationId="{00000000-0000-0000-0000-000000000000}"/>
          </ac:spMkLst>
        </pc:spChg>
      </pc:sldChg>
      <pc:sldChg chg="modSp">
        <pc:chgData name="afzal rangrej" userId="15d7d8049aa642b7" providerId="LiveId" clId="{35D2072F-A876-457F-B89A-E37866911419}" dt="2026-06-03T10:47:45.138" v="0"/>
        <pc:sldMkLst>
          <pc:docMk/>
          <pc:sldMk cId="0" sldId="270"/>
        </pc:sldMkLst>
        <pc:spChg chg="mod">
          <ac:chgData name="afzal rangrej" userId="15d7d8049aa642b7" providerId="LiveId" clId="{35D2072F-A876-457F-B89A-E37866911419}" dt="2026-06-03T10:47:45.138" v="0"/>
          <ac:spMkLst>
            <pc:docMk/>
            <pc:sldMk cId="0" sldId="270"/>
            <ac:spMk id="2" creationId="{00000000-0000-0000-0000-000000000000}"/>
          </ac:spMkLst>
        </pc:spChg>
        <pc:spChg chg="mod">
          <ac:chgData name="afzal rangrej" userId="15d7d8049aa642b7" providerId="LiveId" clId="{35D2072F-A876-457F-B89A-E37866911419}" dt="2026-06-03T10:47:45.138" v="0"/>
          <ac:spMkLst>
            <pc:docMk/>
            <pc:sldMk cId="0" sldId="270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0" name="Oval 9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0" y="2226503"/>
            <a:ext cx="5917679" cy="255087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0" y="4777380"/>
            <a:ext cx="5917679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498080" y="1828800"/>
            <a:ext cx="990599" cy="22865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236208" y="3264408"/>
            <a:ext cx="3859795" cy="228660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307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970" y="927098"/>
            <a:ext cx="6343672" cy="70986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939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Oval 15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Oval 16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1" name="Freeform 10"/>
            <p:cNvSpPr/>
            <p:nvPr/>
          </p:nvSpPr>
          <p:spPr bwMode="gray">
            <a:xfrm rot="16200000">
              <a:off x="3105027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Freeform 5"/>
            <p:cNvSpPr/>
            <p:nvPr/>
          </p:nvSpPr>
          <p:spPr bwMode="gray">
            <a:xfrm rot="15687606">
              <a:off x="3320102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7534" y="2257588"/>
            <a:ext cx="3090672" cy="3020344"/>
          </a:xfrm>
        </p:spPr>
        <p:txBody>
          <a:bodyPr anchor="ctr"/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9261" y="2257588"/>
            <a:ext cx="3082516" cy="302034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87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440" y="2489200"/>
            <a:ext cx="3636980" cy="35306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81" y="2489203"/>
            <a:ext cx="3636980" cy="3530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12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9918" y="2489200"/>
            <a:ext cx="3633502" cy="75929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440" y="3248490"/>
            <a:ext cx="3636980" cy="277131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81" y="2489200"/>
            <a:ext cx="3636979" cy="75663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81" y="3245835"/>
            <a:ext cx="3636980" cy="27739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671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367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339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2" name="Freeform 11"/>
            <p:cNvSpPr/>
            <p:nvPr/>
          </p:nvSpPr>
          <p:spPr bwMode="gray">
            <a:xfrm rot="16200000">
              <a:off x="2548536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Freeform 5"/>
            <p:cNvSpPr/>
            <p:nvPr/>
          </p:nvSpPr>
          <p:spPr bwMode="gray">
            <a:xfrm rot="15687606">
              <a:off x="2769747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447800"/>
            <a:ext cx="2712590" cy="1495588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8927" y="1447800"/>
            <a:ext cx="3632850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1" y="3086845"/>
            <a:ext cx="2712589" cy="2933701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554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2" name="Freeform 11"/>
            <p:cNvSpPr/>
            <p:nvPr/>
          </p:nvSpPr>
          <p:spPr bwMode="gray">
            <a:xfrm rot="16200000">
              <a:off x="2852610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Freeform 5"/>
            <p:cNvSpPr/>
            <p:nvPr/>
          </p:nvSpPr>
          <p:spPr bwMode="gray">
            <a:xfrm rot="15687606">
              <a:off x="3074559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381390"/>
            <a:ext cx="2987089" cy="157480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22909" y="1320800"/>
            <a:ext cx="2791102" cy="42164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086100"/>
            <a:ext cx="2987089" cy="24511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197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Oval 17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Oval 18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Freeform 5"/>
            <p:cNvSpPr/>
            <p:nvPr/>
          </p:nvSpPr>
          <p:spPr bwMode="gray">
            <a:xfrm rot="10204164">
              <a:off x="426788" y="456424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21503" y="402165"/>
              <a:ext cx="8327939" cy="3141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1" name="Freeform 10"/>
            <p:cNvSpPr/>
            <p:nvPr/>
          </p:nvSpPr>
          <p:spPr bwMode="gray">
            <a:xfrm rot="10800000">
              <a:off x="485023" y="2670079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4961454"/>
            <a:ext cx="642200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1" y="685800"/>
            <a:ext cx="6422004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0" y="5528192"/>
            <a:ext cx="6422004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600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2" name="Freeform 5"/>
            <p:cNvSpPr/>
            <p:nvPr/>
          </p:nvSpPr>
          <p:spPr bwMode="gray">
            <a:xfrm rot="21010068">
              <a:off x="6359946" y="2780895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85023" y="4343399"/>
              <a:ext cx="8182128" cy="21124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1" name="Freeform 10"/>
            <p:cNvSpPr/>
            <p:nvPr/>
          </p:nvSpPr>
          <p:spPr bwMode="gray">
            <a:xfrm>
              <a:off x="485023" y="2854646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2005" cy="16927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488023"/>
            <a:ext cx="6422005" cy="2536857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3553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Oval 17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Oval 18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Oval 19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1" name="Oval 20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2" name="Freeform 5"/>
            <p:cNvSpPr/>
            <p:nvPr/>
          </p:nvSpPr>
          <p:spPr bwMode="gray">
            <a:xfrm rot="21010068">
              <a:off x="6359946" y="430920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Freeform 10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3" name="TextBox 22"/>
          <p:cNvSpPr txBox="1"/>
          <p:nvPr/>
        </p:nvSpPr>
        <p:spPr bwMode="gray">
          <a:xfrm>
            <a:off x="647430" y="651690"/>
            <a:ext cx="60159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 bwMode="gray">
          <a:xfrm>
            <a:off x="7069418" y="2900292"/>
            <a:ext cx="6190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8060" y="927099"/>
            <a:ext cx="6160385" cy="2882179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387278" y="3809278"/>
            <a:ext cx="5646143" cy="333113"/>
          </a:xfrm>
        </p:spPr>
        <p:txBody>
          <a:bodyPr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5000816"/>
            <a:ext cx="6343673" cy="101061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3745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1" name="Oval 1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Freeform 5"/>
            <p:cNvSpPr/>
            <p:nvPr/>
          </p:nvSpPr>
          <p:spPr bwMode="gray">
            <a:xfrm rot="21010068">
              <a:off x="6359946" y="431124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8" name="Freeform 7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2057400"/>
            <a:ext cx="6422005" cy="20955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1" y="5024908"/>
            <a:ext cx="6422004" cy="994891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4472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3593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2489200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440" y="3147164"/>
            <a:ext cx="2313432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05614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08471" y="3147164"/>
            <a:ext cx="2318918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60935" y="3147164"/>
            <a:ext cx="2316625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294530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4865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345260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4179596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9055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439" y="4837558"/>
            <a:ext cx="2313432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11125" y="4179595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53189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11125" y="484820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4179596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08641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58642" y="483755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0" name="Straight Connector 39"/>
          <p:cNvCxnSpPr/>
          <p:nvPr/>
        </p:nvCxnSpPr>
        <p:spPr>
          <a:xfrm>
            <a:off x="3290019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1984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21301" y="6387910"/>
            <a:ext cx="990599" cy="228659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6133" y="6387910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0752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20420" cy="6860798"/>
            <a:chOff x="-1588" y="0"/>
            <a:chExt cx="9120420" cy="6860798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2" name="Oval 1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3" name="Oval 12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4" name="Oval 13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14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Oval 15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Freeform 5"/>
            <p:cNvSpPr/>
            <p:nvPr/>
          </p:nvSpPr>
          <p:spPr bwMode="gray">
            <a:xfrm rot="4966650">
              <a:off x="4673046" y="5107506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7" name="Rectangle 16"/>
          <p:cNvSpPr/>
          <p:nvPr/>
        </p:nvSpPr>
        <p:spPr>
          <a:xfrm>
            <a:off x="414867" y="402165"/>
            <a:ext cx="4610565" cy="605367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Freeform 9"/>
          <p:cNvSpPr/>
          <p:nvPr/>
        </p:nvSpPr>
        <p:spPr bwMode="gray">
          <a:xfrm rot="5400000">
            <a:off x="1299309" y="1765596"/>
            <a:ext cx="5995993" cy="3326809"/>
          </a:xfrm>
          <a:custGeom>
            <a:avLst/>
            <a:gdLst/>
            <a:ahLst/>
            <a:cxnLst/>
            <a:rect l="0" t="0" r="r" b="b"/>
            <a:pathLst>
              <a:path w="4960" h="2752">
                <a:moveTo>
                  <a:pt x="0" y="0"/>
                </a:moveTo>
                <a:lnTo>
                  <a:pt x="0" y="324"/>
                </a:lnTo>
                <a:lnTo>
                  <a:pt x="0" y="1992"/>
                </a:lnTo>
                <a:lnTo>
                  <a:pt x="0" y="2752"/>
                </a:lnTo>
                <a:lnTo>
                  <a:pt x="4960" y="2752"/>
                </a:lnTo>
                <a:lnTo>
                  <a:pt x="4960" y="1992"/>
                </a:lnTo>
                <a:lnTo>
                  <a:pt x="4960" y="324"/>
                </a:lnTo>
                <a:lnTo>
                  <a:pt x="4960" y="0"/>
                </a:lnTo>
                <a:lnTo>
                  <a:pt x="4960" y="0"/>
                </a:lnTo>
                <a:lnTo>
                  <a:pt x="4734" y="34"/>
                </a:lnTo>
                <a:lnTo>
                  <a:pt x="4510" y="64"/>
                </a:lnTo>
                <a:lnTo>
                  <a:pt x="4284" y="90"/>
                </a:lnTo>
                <a:lnTo>
                  <a:pt x="4060" y="114"/>
                </a:lnTo>
                <a:lnTo>
                  <a:pt x="3836" y="132"/>
                </a:lnTo>
                <a:lnTo>
                  <a:pt x="3614" y="146"/>
                </a:lnTo>
                <a:lnTo>
                  <a:pt x="3392" y="158"/>
                </a:lnTo>
                <a:lnTo>
                  <a:pt x="3174" y="166"/>
                </a:lnTo>
                <a:lnTo>
                  <a:pt x="2960" y="172"/>
                </a:lnTo>
                <a:lnTo>
                  <a:pt x="2748" y="174"/>
                </a:lnTo>
                <a:lnTo>
                  <a:pt x="2542" y="174"/>
                </a:lnTo>
                <a:lnTo>
                  <a:pt x="2338" y="174"/>
                </a:lnTo>
                <a:lnTo>
                  <a:pt x="2140" y="170"/>
                </a:lnTo>
                <a:lnTo>
                  <a:pt x="1948" y="164"/>
                </a:lnTo>
                <a:lnTo>
                  <a:pt x="1762" y="156"/>
                </a:lnTo>
                <a:lnTo>
                  <a:pt x="1582" y="148"/>
                </a:lnTo>
                <a:lnTo>
                  <a:pt x="1410" y="138"/>
                </a:lnTo>
                <a:lnTo>
                  <a:pt x="1244" y="128"/>
                </a:lnTo>
                <a:lnTo>
                  <a:pt x="1088" y="116"/>
                </a:lnTo>
                <a:lnTo>
                  <a:pt x="938" y="104"/>
                </a:lnTo>
                <a:lnTo>
                  <a:pt x="668" y="78"/>
                </a:lnTo>
                <a:lnTo>
                  <a:pt x="438" y="54"/>
                </a:lnTo>
                <a:lnTo>
                  <a:pt x="254" y="34"/>
                </a:lnTo>
                <a:lnTo>
                  <a:pt x="116" y="1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8" name="Freeform 5"/>
          <p:cNvSpPr>
            <a:spLocks noEditPoints="1"/>
          </p:cNvSpPr>
          <p:nvPr/>
        </p:nvSpPr>
        <p:spPr bwMode="gray">
          <a:xfrm>
            <a:off x="0" y="0"/>
            <a:ext cx="9144000" cy="6858000"/>
          </a:xfrm>
          <a:custGeom>
            <a:avLst/>
            <a:gdLst/>
            <a:ahLst/>
            <a:cxnLst/>
            <a:rect l="0" t="0" r="r" b="b"/>
            <a:pathLst>
              <a:path w="5760" h="4320">
                <a:moveTo>
                  <a:pt x="0" y="0"/>
                </a:moveTo>
                <a:lnTo>
                  <a:pt x="0" y="4320"/>
                </a:lnTo>
                <a:lnTo>
                  <a:pt x="5760" y="4320"/>
                </a:lnTo>
                <a:lnTo>
                  <a:pt x="5760" y="0"/>
                </a:lnTo>
                <a:lnTo>
                  <a:pt x="0" y="0"/>
                </a:lnTo>
                <a:close/>
                <a:moveTo>
                  <a:pt x="5444" y="4004"/>
                </a:moveTo>
                <a:lnTo>
                  <a:pt x="324" y="4004"/>
                </a:lnTo>
                <a:lnTo>
                  <a:pt x="324" y="324"/>
                </a:lnTo>
                <a:lnTo>
                  <a:pt x="5444" y="324"/>
                </a:lnTo>
                <a:lnTo>
                  <a:pt x="5444" y="40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74928" y="1447799"/>
            <a:ext cx="1113516" cy="4572001"/>
          </a:xfrm>
        </p:spPr>
        <p:txBody>
          <a:bodyPr vert="eaVert" anchor="ctr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738" y="1447799"/>
            <a:ext cx="4416936" cy="45720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546" y="6365498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587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1" name="Oval 2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2" name="Oval 2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Oval 2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Oval 2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Oval 19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Freeform 5"/>
            <p:cNvSpPr/>
            <p:nvPr/>
          </p:nvSpPr>
          <p:spPr bwMode="gray">
            <a:xfrm rot="21010068">
              <a:off x="6359946" y="179029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Freeform 24"/>
            <p:cNvSpPr/>
            <p:nvPr/>
          </p:nvSpPr>
          <p:spPr bwMode="gray">
            <a:xfrm>
              <a:off x="485023" y="1856450"/>
              <a:ext cx="8173954" cy="4535226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440" y="927099"/>
            <a:ext cx="6345260" cy="7098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4382" y="2489200"/>
            <a:ext cx="6345260" cy="353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74443" y="6365498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 b="1" i="0">
                <a:solidFill>
                  <a:schemeClr val="accen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0843" y="6365497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507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b="0" i="0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83464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6012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3444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0876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0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25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4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432" y="927098"/>
            <a:ext cx="7885471" cy="709865"/>
          </a:xfrm>
        </p:spPr>
        <p:txBody>
          <a:bodyPr/>
          <a:lstStyle/>
          <a:p>
            <a:pPr algn="ctr"/>
            <a:r>
              <a:rPr sz="4000" dirty="0">
                <a:latin typeface="Georgia" panose="02040502050405020303" pitchFamily="18" charset="0"/>
              </a:rPr>
              <a:t>Customer Churn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4381" y="2489200"/>
            <a:ext cx="7640521" cy="35306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Data Analyst </a:t>
            </a:r>
            <a:r>
              <a:rPr dirty="0"/>
              <a:t>Internship Project Presentation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Prepared By: </a:t>
            </a:r>
            <a:r>
              <a:rPr lang="en-IN" b="1" dirty="0"/>
              <a:t>Afzal Rangrej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Tools Used:</a:t>
            </a:r>
          </a:p>
          <a:p>
            <a:pPr marL="402336" lvl="1" indent="0">
              <a:buNone/>
            </a:pPr>
            <a:r>
              <a:rPr lang="en-IN" dirty="0"/>
              <a:t>	Python </a:t>
            </a:r>
          </a:p>
          <a:p>
            <a:pPr marL="402336" lvl="1" indent="0">
              <a:buNone/>
            </a:pPr>
            <a:r>
              <a:rPr lang="en-IN" dirty="0"/>
              <a:t>	SQL </a:t>
            </a:r>
          </a:p>
          <a:p>
            <a:pPr marL="402336" lvl="1" indent="0">
              <a:buNone/>
            </a:pPr>
            <a:r>
              <a:rPr lang="en-IN" dirty="0"/>
              <a:t>	FastAPI </a:t>
            </a:r>
          </a:p>
          <a:p>
            <a:pPr marL="402336" lvl="1" indent="0">
              <a:buNone/>
            </a:pPr>
            <a:r>
              <a:rPr lang="en-IN" dirty="0"/>
              <a:t>	Power BI </a:t>
            </a:r>
          </a:p>
          <a:p>
            <a:pPr marL="402336" lvl="1" indent="0">
              <a:buNone/>
            </a:pPr>
            <a:endParaRPr lang="en-IN" dirty="0"/>
          </a:p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265" y="927098"/>
            <a:ext cx="7865805" cy="709865"/>
          </a:xfrm>
        </p:spPr>
        <p:txBody>
          <a:bodyPr/>
          <a:lstStyle/>
          <a:p>
            <a:pPr algn="ctr"/>
            <a:r>
              <a:rPr dirty="0">
                <a:latin typeface="Georgia" panose="02040502050405020303" pitchFamily="18" charset="0"/>
              </a:rP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4382" y="2489200"/>
            <a:ext cx="7722570" cy="359629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dirty="0"/>
              <a:t>Analyze telecom customer churn, identify churn drivers, segment customers by value, and provide business insights using Power BI.</a:t>
            </a:r>
            <a:endParaRPr lang="en-IN" dirty="0"/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This project focuses on </a:t>
            </a:r>
            <a:r>
              <a:rPr lang="en-IN" dirty="0" err="1"/>
              <a:t>analyzing</a:t>
            </a:r>
            <a:r>
              <a:rPr lang="en-IN" dirty="0"/>
              <a:t> customer churn in a telecom company.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Using customer demographic, service, and revenue data, we identified churn drivers, segmented customers based on value, and developed interactive Power BI dashboards.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The objective is to help management understand customer behaviour and make data-driven retention decisions.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9768" y="927098"/>
            <a:ext cx="7945142" cy="709865"/>
          </a:xfrm>
        </p:spPr>
        <p:txBody>
          <a:bodyPr/>
          <a:lstStyle/>
          <a:p>
            <a:pPr algn="ctr"/>
            <a:r>
              <a:rPr dirty="0">
                <a:latin typeface="Georgia" panose="02040502050405020303" pitchFamily="18" charset="0"/>
              </a:rP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4382" y="2489199"/>
            <a:ext cx="7680528" cy="3627821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dirty="0"/>
              <a:t>High customer churn impacts revenue and growth. The objective is to identify risk factors and improve retention.</a:t>
            </a:r>
            <a:endParaRPr lang="en-IN" dirty="0"/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Data-driven insights are required to improve customer retention and loyalty.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Customer churn negatively impacts profitability and customer lifetime value.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Understanding churn behaviour is essential for effective retention strategies.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The goal is to identify high-risk customers and reduce future churn.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9768" y="927098"/>
            <a:ext cx="7892590" cy="709865"/>
          </a:xfrm>
        </p:spPr>
        <p:txBody>
          <a:bodyPr/>
          <a:lstStyle/>
          <a:p>
            <a:pPr algn="ctr"/>
            <a:r>
              <a:rPr dirty="0">
                <a:latin typeface="Georgia" panose="02040502050405020303" pitchFamily="18" charset="0"/>
              </a:rPr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4381" y="2489199"/>
            <a:ext cx="7627977" cy="3890579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Analyze customer churn patterns.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Measure churn rate and retention trends.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Identify major churn drivers.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Segment customers by value.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Analyze revenue contribution.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Support data-driven business decisions.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9935" y="927098"/>
            <a:ext cx="7954975" cy="709865"/>
          </a:xfrm>
        </p:spPr>
        <p:txBody>
          <a:bodyPr/>
          <a:lstStyle/>
          <a:p>
            <a:pPr algn="ctr"/>
            <a:r>
              <a:rPr dirty="0">
                <a:latin typeface="Georgia" panose="02040502050405020303" pitchFamily="18" charset="0"/>
              </a:rP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4382" y="2207173"/>
            <a:ext cx="7680528" cy="4529958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Dataset Name: </a:t>
            </a:r>
            <a:r>
              <a:rPr lang="en-IN" b="1" dirty="0"/>
              <a:t>Telco Customer Churn Dataset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Total Records: </a:t>
            </a:r>
            <a:r>
              <a:rPr lang="en-IN" b="1" dirty="0"/>
              <a:t>7,032 Customers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Target Variable</a:t>
            </a:r>
            <a:r>
              <a:rPr lang="en-IN" b="1" dirty="0"/>
              <a:t>:</a:t>
            </a:r>
            <a:r>
              <a:rPr lang="en-IN" dirty="0"/>
              <a:t> </a:t>
            </a:r>
            <a:r>
              <a:rPr lang="en-IN" b="1" dirty="0"/>
              <a:t>Churn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Major Attributes:</a:t>
            </a:r>
          </a:p>
          <a:p>
            <a:pPr marL="0" indent="0">
              <a:buNone/>
            </a:pPr>
            <a:r>
              <a:rPr lang="en-IN" dirty="0"/>
              <a:t>		Customer Demographics</a:t>
            </a:r>
          </a:p>
          <a:p>
            <a:pPr marL="0" indent="0">
              <a:buNone/>
            </a:pPr>
            <a:r>
              <a:rPr lang="en-IN" dirty="0"/>
              <a:t>		Contract Information</a:t>
            </a:r>
          </a:p>
          <a:p>
            <a:pPr marL="0" indent="0">
              <a:buNone/>
            </a:pPr>
            <a:r>
              <a:rPr lang="en-IN" dirty="0"/>
              <a:t>		Revenue Metrics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Business Goal:</a:t>
            </a:r>
          </a:p>
          <a:p>
            <a:pPr marL="0" indent="0">
              <a:buNone/>
            </a:pPr>
            <a:r>
              <a:rPr lang="en-IN" dirty="0"/>
              <a:t>		Understand churn behaviour </a:t>
            </a:r>
          </a:p>
          <a:p>
            <a:pPr marL="0" indent="0">
              <a:buNone/>
            </a:pPr>
            <a:r>
              <a:rPr lang="en-IN" dirty="0"/>
              <a:t>		Identify high-risk customers </a:t>
            </a:r>
          </a:p>
          <a:p>
            <a:pPr marL="0" indent="0">
              <a:buNone/>
            </a:pPr>
            <a:r>
              <a:rPr lang="en-IN" dirty="0"/>
              <a:t>		Support retention strategies</a:t>
            </a:r>
          </a:p>
          <a:p>
            <a:pPr>
              <a:buFont typeface="Wingdings" panose="05000000000000000000" pitchFamily="2" charset="2"/>
              <a:buChar char="Ø"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927098"/>
            <a:ext cx="7924800" cy="709865"/>
          </a:xfrm>
        </p:spPr>
        <p:txBody>
          <a:bodyPr/>
          <a:lstStyle/>
          <a:p>
            <a:pPr algn="ctr"/>
            <a:r>
              <a:rPr dirty="0">
                <a:latin typeface="Georgia" panose="02040502050405020303" pitchFamily="18" charset="0"/>
              </a:rPr>
              <a:t>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4382" y="2228193"/>
            <a:ext cx="7670018" cy="4498428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dirty="0"/>
              <a:t>Data Collection</a:t>
            </a:r>
          </a:p>
          <a:p>
            <a:pPr marL="0" indent="0" algn="ctr">
              <a:buNone/>
            </a:pPr>
            <a:r>
              <a:rPr lang="en-US" dirty="0"/>
              <a:t>↓</a:t>
            </a:r>
          </a:p>
          <a:p>
            <a:pPr marL="0" indent="0" algn="ctr">
              <a:buNone/>
            </a:pPr>
            <a:r>
              <a:rPr lang="en-US" dirty="0"/>
              <a:t>Data Cleaning</a:t>
            </a:r>
          </a:p>
          <a:p>
            <a:pPr marL="0" indent="0" algn="ctr">
              <a:buNone/>
            </a:pPr>
            <a:r>
              <a:rPr lang="en-US" dirty="0"/>
              <a:t>↓</a:t>
            </a:r>
          </a:p>
          <a:p>
            <a:pPr marL="0" indent="0" algn="ctr">
              <a:buNone/>
            </a:pPr>
            <a:r>
              <a:rPr lang="en-US" dirty="0"/>
              <a:t>Feature Engineering</a:t>
            </a:r>
          </a:p>
          <a:p>
            <a:pPr marL="0" indent="0" algn="ctr">
              <a:buNone/>
            </a:pPr>
            <a:r>
              <a:rPr lang="en-US" dirty="0"/>
              <a:t>↓</a:t>
            </a:r>
          </a:p>
          <a:p>
            <a:pPr marL="0" indent="0" algn="ctr">
              <a:buNone/>
            </a:pPr>
            <a:r>
              <a:rPr lang="en-US" dirty="0"/>
              <a:t>Exploratory Data Analysis</a:t>
            </a:r>
          </a:p>
          <a:p>
            <a:pPr marL="0" indent="0" algn="ctr">
              <a:buNone/>
            </a:pPr>
            <a:r>
              <a:rPr lang="en-US" dirty="0"/>
              <a:t>↓</a:t>
            </a:r>
          </a:p>
          <a:p>
            <a:pPr marL="0" indent="0" algn="ctr">
              <a:buNone/>
            </a:pPr>
            <a:r>
              <a:rPr lang="en-US" dirty="0"/>
              <a:t>Dashboard Development</a:t>
            </a:r>
          </a:p>
          <a:p>
            <a:pPr marL="0" indent="0" algn="ctr">
              <a:buNone/>
            </a:pPr>
            <a:r>
              <a:rPr lang="en-US" dirty="0"/>
              <a:t>↓</a:t>
            </a:r>
          </a:p>
          <a:p>
            <a:pPr marL="0" indent="0" algn="ctr">
              <a:buNone/>
            </a:pPr>
            <a:r>
              <a:rPr lang="en-US" dirty="0"/>
              <a:t>Business Insights</a:t>
            </a:r>
          </a:p>
          <a:p>
            <a:pPr marL="0" indent="0" algn="ctr">
              <a:buNone/>
            </a:pPr>
            <a:r>
              <a:rPr lang="en-US" dirty="0"/>
              <a:t>↓</a:t>
            </a:r>
          </a:p>
          <a:p>
            <a:pPr marL="0" indent="0" algn="ctr">
              <a:buNone/>
            </a:pPr>
            <a:r>
              <a:rPr lang="en-US" dirty="0"/>
              <a:t>Deployment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265" y="927098"/>
            <a:ext cx="7885469" cy="709865"/>
          </a:xfrm>
        </p:spPr>
        <p:txBody>
          <a:bodyPr/>
          <a:lstStyle/>
          <a:p>
            <a:pPr algn="ctr"/>
            <a:r>
              <a:rPr dirty="0">
                <a:latin typeface="Georgia" panose="02040502050405020303" pitchFamily="18" charset="0"/>
              </a:rPr>
              <a:t>Dashboard 1: Executive Summary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F51555-D904-9FEA-A413-26586C49A9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8983" y="2227920"/>
            <a:ext cx="8086034" cy="45354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265" y="927098"/>
            <a:ext cx="7894623" cy="709865"/>
          </a:xfrm>
        </p:spPr>
        <p:txBody>
          <a:bodyPr/>
          <a:lstStyle/>
          <a:p>
            <a:pPr algn="ctr"/>
            <a:r>
              <a:rPr dirty="0">
                <a:latin typeface="Georgia" panose="02040502050405020303" pitchFamily="18" charset="0"/>
              </a:rPr>
              <a:t>Dashboard 1 </a:t>
            </a:r>
            <a:r>
              <a:rPr lang="en-IN" dirty="0">
                <a:latin typeface="Georgia" panose="02040502050405020303" pitchFamily="18" charset="0"/>
              </a:rPr>
              <a:t>: </a:t>
            </a:r>
            <a:r>
              <a:rPr dirty="0">
                <a:latin typeface="Georgia" panose="02040502050405020303" pitchFamily="18" charset="0"/>
              </a:rP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6726" y="2489200"/>
            <a:ext cx="7817163" cy="32389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Overall churn rate is </a:t>
            </a:r>
            <a:r>
              <a:rPr lang="en-IN" b="1" dirty="0"/>
              <a:t>26.58%</a:t>
            </a:r>
            <a:r>
              <a:rPr lang="en-IN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Month-to-Month customers churn the most.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Fiber Optic users show higher churn.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Electronic Check customers have higher churn.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Total revenue generated is </a:t>
            </a:r>
            <a:r>
              <a:rPr lang="en-IN" b="1" dirty="0"/>
              <a:t>₹16.06M</a:t>
            </a:r>
            <a:r>
              <a:rPr lang="en-IN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Contract type and payment method strongly influence churn.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927098"/>
            <a:ext cx="7914968" cy="709865"/>
          </a:xfrm>
        </p:spPr>
        <p:txBody>
          <a:bodyPr/>
          <a:lstStyle/>
          <a:p>
            <a:pPr algn="ctr"/>
            <a:r>
              <a:rPr dirty="0">
                <a:latin typeface="Georgia" panose="02040502050405020303" pitchFamily="18" charset="0"/>
              </a:rPr>
              <a:t>Dashboard 2: Customer Insights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C7FAEB-63F1-7A38-A061-318A76F461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8471" y="2238375"/>
            <a:ext cx="8067058" cy="451961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439" y="927098"/>
            <a:ext cx="8026513" cy="709865"/>
          </a:xfrm>
        </p:spPr>
        <p:txBody>
          <a:bodyPr/>
          <a:lstStyle/>
          <a:p>
            <a:pPr algn="ctr"/>
            <a:r>
              <a:rPr dirty="0">
                <a:latin typeface="Georgia" panose="02040502050405020303" pitchFamily="18" charset="0"/>
              </a:rPr>
              <a:t>Dashboard 2 </a:t>
            </a:r>
            <a:r>
              <a:rPr lang="en-IN" dirty="0">
                <a:latin typeface="Georgia" panose="02040502050405020303" pitchFamily="18" charset="0"/>
              </a:rPr>
              <a:t>: </a:t>
            </a:r>
            <a:r>
              <a:rPr dirty="0">
                <a:latin typeface="Georgia" panose="02040502050405020303" pitchFamily="18" charset="0"/>
              </a:rP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0924" y="2217683"/>
            <a:ext cx="8156028" cy="451944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1700" dirty="0"/>
              <a:t>Overall churn rate remains </a:t>
            </a:r>
            <a:r>
              <a:rPr lang="en-IN" sz="1700" b="1" dirty="0"/>
              <a:t>26.58%</a:t>
            </a:r>
            <a:r>
              <a:rPr lang="en-IN" sz="1700" dirty="0"/>
              <a:t>, with </a:t>
            </a:r>
            <a:r>
              <a:rPr lang="en-IN" sz="1700" b="1" dirty="0"/>
              <a:t>631 High-Risk Customers</a:t>
            </a:r>
            <a:r>
              <a:rPr lang="en-IN" sz="1700" dirty="0"/>
              <a:t> identified.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700" b="1" dirty="0"/>
              <a:t>Gender has minimal impact</a:t>
            </a:r>
            <a:r>
              <a:rPr lang="en-IN" sz="1700" dirty="0"/>
              <a:t> on churn, as male and female customers show similar churn patterns.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700" b="1" dirty="0"/>
              <a:t>Senior Citizens exhibit higher churn risk</a:t>
            </a:r>
            <a:r>
              <a:rPr lang="en-IN" sz="1700" dirty="0"/>
              <a:t> compared to non-senior customers.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700" b="1" dirty="0"/>
              <a:t>New and short-tenure customers</a:t>
            </a:r>
            <a:r>
              <a:rPr lang="en-IN" sz="1700" dirty="0"/>
              <a:t> are more likely to churn than long-term customers.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700" dirty="0"/>
              <a:t>Customers </a:t>
            </a:r>
            <a:r>
              <a:rPr lang="en-IN" sz="1700" b="1" dirty="0"/>
              <a:t>without Online Security</a:t>
            </a:r>
            <a:r>
              <a:rPr lang="en-IN" sz="1700" dirty="0"/>
              <a:t> show significantly higher churn levels.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700" dirty="0"/>
              <a:t>Customers </a:t>
            </a:r>
            <a:r>
              <a:rPr lang="en-IN" sz="1700" b="1" dirty="0"/>
              <a:t>without Tech Support</a:t>
            </a:r>
            <a:r>
              <a:rPr lang="en-IN" sz="1700" dirty="0"/>
              <a:t> are more likely to leave the company.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b="1" u="sng" dirty="0"/>
              <a:t>One Line Conclusion 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IN" sz="1700" dirty="0"/>
              <a:t>Online Security, Tech Support, customer tenure, and senior citizen status are the strongest churn indicators in this dashboard.</a:t>
            </a:r>
            <a:endParaRPr sz="1700" b="1" u="sng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007" y="927098"/>
            <a:ext cx="8082455" cy="709865"/>
          </a:xfrm>
        </p:spPr>
        <p:txBody>
          <a:bodyPr/>
          <a:lstStyle/>
          <a:p>
            <a:pPr algn="ctr"/>
            <a:r>
              <a:rPr sz="2800" dirty="0">
                <a:latin typeface="Georgia" panose="02040502050405020303" pitchFamily="18" charset="0"/>
              </a:rPr>
              <a:t>Dashboard 3: Customer Value Segmentation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FC7BF5D-5B04-7E20-C08D-6F35E0F325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5007" y="2154621"/>
            <a:ext cx="808245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0103" y="927098"/>
            <a:ext cx="7954297" cy="709865"/>
          </a:xfrm>
        </p:spPr>
        <p:txBody>
          <a:bodyPr/>
          <a:lstStyle/>
          <a:p>
            <a:pPr algn="ctr"/>
            <a:r>
              <a:rPr dirty="0">
                <a:latin typeface="Georgia" panose="02040502050405020303" pitchFamily="18" charset="0"/>
              </a:rPr>
              <a:t>Dashboard 3 </a:t>
            </a:r>
            <a:r>
              <a:rPr lang="en-IN" dirty="0">
                <a:latin typeface="Georgia" panose="02040502050405020303" pitchFamily="18" charset="0"/>
              </a:rPr>
              <a:t>: </a:t>
            </a:r>
            <a:r>
              <a:rPr dirty="0">
                <a:latin typeface="Georgia" panose="02040502050405020303" pitchFamily="18" charset="0"/>
              </a:rP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4290" y="2291255"/>
            <a:ext cx="8476084" cy="4375016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1600" dirty="0"/>
              <a:t>Total Revenue generated is </a:t>
            </a:r>
            <a:r>
              <a:rPr lang="en-IN" sz="1600" b="1" dirty="0"/>
              <a:t>₹16.06M</a:t>
            </a:r>
            <a:r>
              <a:rPr lang="en-IN" sz="1600" dirty="0"/>
              <a:t> from </a:t>
            </a:r>
            <a:r>
              <a:rPr lang="en-IN" sz="1600" b="1" dirty="0"/>
              <a:t>7,032 customers</a:t>
            </a:r>
            <a:r>
              <a:rPr lang="en-IN" sz="1600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b="1" dirty="0"/>
              <a:t>Premium Value Customers</a:t>
            </a:r>
            <a:r>
              <a:rPr lang="en-IN" sz="1600" dirty="0"/>
              <a:t> contribute the highest revenue (</a:t>
            </a:r>
            <a:r>
              <a:rPr lang="en-IN" sz="1600" b="1" dirty="0"/>
              <a:t>₹10.1M</a:t>
            </a:r>
            <a:r>
              <a:rPr lang="en-IN" sz="1600" dirty="0"/>
              <a:t>), making them the most valuable segment.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dirty="0"/>
              <a:t>Premium customers have the </a:t>
            </a:r>
            <a:r>
              <a:rPr lang="en-IN" sz="1600" b="1" dirty="0"/>
              <a:t>highest average tenure (61.29 months)</a:t>
            </a:r>
            <a:r>
              <a:rPr lang="en-IN" sz="1600" dirty="0"/>
              <a:t>, indicating strong loyalty.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dirty="0"/>
              <a:t>Premium customers also pay the </a:t>
            </a:r>
            <a:r>
              <a:rPr lang="en-IN" sz="1600" b="1" dirty="0"/>
              <a:t>highest monthly charges (₹94 average)</a:t>
            </a:r>
            <a:r>
              <a:rPr lang="en-IN" sz="1600" dirty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b="1" dirty="0"/>
              <a:t>Low Value Customers</a:t>
            </a:r>
            <a:r>
              <a:rPr lang="en-IN" sz="1600" dirty="0"/>
              <a:t> generate the least revenue (</a:t>
            </a:r>
            <a:r>
              <a:rPr lang="en-IN" sz="1600" b="1" dirty="0"/>
              <a:t>₹0.3M</a:t>
            </a:r>
            <a:r>
              <a:rPr lang="en-IN" sz="1600" dirty="0"/>
              <a:t>) and have the shortest tenure (</a:t>
            </a:r>
            <a:r>
              <a:rPr lang="en-IN" sz="1600" b="1" dirty="0"/>
              <a:t>4.38 months</a:t>
            </a:r>
            <a:r>
              <a:rPr lang="en-IN" sz="1600" dirty="0"/>
              <a:t>).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dirty="0"/>
              <a:t>The </a:t>
            </a:r>
            <a:r>
              <a:rPr lang="en-IN" sz="1600" b="1" dirty="0"/>
              <a:t>Low Value Segment shows the highest churn count (764 customers)</a:t>
            </a:r>
            <a:r>
              <a:rPr lang="en-IN" sz="1600" dirty="0"/>
              <a:t>, indicating a retention challenge.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b="1" u="sng" dirty="0"/>
              <a:t>One Line Conclusion 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IN" dirty="0"/>
              <a:t>Premium customers drive the majority of revenue and show the strongest loyalty, while Low Value customers represent the highest churn risk and retention opportunity.</a:t>
            </a:r>
            <a:endParaRPr lang="en-IN" b="1" u="sng" dirty="0"/>
          </a:p>
          <a:p>
            <a:pPr>
              <a:buFont typeface="Wingdings" panose="05000000000000000000" pitchFamily="2" charset="2"/>
              <a:buChar char="Ø"/>
            </a:pPr>
            <a:endParaRPr lang="en-IN" sz="1600" dirty="0"/>
          </a:p>
          <a:p>
            <a:pPr>
              <a:buFont typeface="Wingdings" panose="05000000000000000000" pitchFamily="2" charset="2"/>
              <a:buChar char="Ø"/>
            </a:pPr>
            <a:endParaRPr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87A65-90E2-1941-514E-7DBCFB114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787" y="927098"/>
            <a:ext cx="8200103" cy="709865"/>
          </a:xfrm>
        </p:spPr>
        <p:txBody>
          <a:bodyPr/>
          <a:lstStyle/>
          <a:p>
            <a:pPr algn="ctr"/>
            <a:r>
              <a:rPr lang="en-US" sz="2800" dirty="0"/>
              <a:t>Dashboard4: </a:t>
            </a:r>
            <a:r>
              <a:rPr lang="en-IN" sz="2800" dirty="0"/>
              <a:t>ML Model Performance &amp; Feature Importance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2DFA939-D5BD-8839-F3ED-54F6CBDC49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1445" y="2163763"/>
            <a:ext cx="8121445" cy="4532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929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B3AF3-968D-36EC-07DD-28FD4840F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595" y="927098"/>
            <a:ext cx="7816644" cy="709865"/>
          </a:xfrm>
        </p:spPr>
        <p:txBody>
          <a:bodyPr/>
          <a:lstStyle/>
          <a:p>
            <a:pPr algn="ctr"/>
            <a:r>
              <a:rPr lang="en-IN" dirty="0">
                <a:latin typeface="Georgia" panose="02040502050405020303" pitchFamily="18" charset="0"/>
              </a:rPr>
              <a:t>Dashboard 4 Key Insights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B313C8-F172-BB60-A9B6-E27060012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595" y="2489199"/>
            <a:ext cx="7816643" cy="4245897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Random Forest + SMOTE</a:t>
            </a:r>
            <a:r>
              <a:rPr lang="en-IN" dirty="0"/>
              <a:t> was the best-performing model, achieving </a:t>
            </a:r>
            <a:r>
              <a:rPr lang="en-IN" b="1" dirty="0"/>
              <a:t>83.6% accuracy</a:t>
            </a:r>
            <a:r>
              <a:rPr lang="en-IN" dirty="0"/>
              <a:t>, </a:t>
            </a:r>
            <a:r>
              <a:rPr lang="en-IN" b="1" dirty="0"/>
              <a:t>85.6% recall</a:t>
            </a:r>
            <a:r>
              <a:rPr lang="en-IN" dirty="0"/>
              <a:t>, and </a:t>
            </a:r>
            <a:r>
              <a:rPr lang="en-IN" b="1" dirty="0"/>
              <a:t>68.0% F1-score</a:t>
            </a:r>
            <a:r>
              <a:rPr lang="en-IN" dirty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Applying </a:t>
            </a:r>
            <a:r>
              <a:rPr lang="en-IN" b="1" dirty="0"/>
              <a:t>SMOTE</a:t>
            </a:r>
            <a:r>
              <a:rPr lang="en-IN" dirty="0"/>
              <a:t> improved model performance by addressing class imbalance and enhancing churn prediction capability.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Monthly Charges, Tenure, and Total Charges</a:t>
            </a:r>
            <a:r>
              <a:rPr lang="en-IN" dirty="0"/>
              <a:t> were identified as the most influential factors driving customer churn.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Contract type</a:t>
            </a:r>
            <a:r>
              <a:rPr lang="en-IN" dirty="0"/>
              <a:t> significantly impacts retention, with customers on flexible contracts showing a higher likelihood of churn.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Service-related features such as </a:t>
            </a:r>
            <a:r>
              <a:rPr lang="en-IN" b="1" dirty="0"/>
              <a:t>Online Security</a:t>
            </a:r>
            <a:r>
              <a:rPr lang="en-IN" dirty="0"/>
              <a:t> and </a:t>
            </a:r>
            <a:r>
              <a:rPr lang="en-IN" b="1" dirty="0"/>
              <a:t>Tech Support</a:t>
            </a:r>
            <a:r>
              <a:rPr lang="en-IN" dirty="0"/>
              <a:t> also play an important role in customer retention.</a:t>
            </a:r>
          </a:p>
        </p:txBody>
      </p:sp>
    </p:spTree>
    <p:extLst>
      <p:ext uri="{BB962C8B-B14F-4D97-AF65-F5344CB8AC3E}">
        <p14:creationId xmlns:p14="http://schemas.microsoft.com/office/powerpoint/2010/main" val="25908877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432" y="927098"/>
            <a:ext cx="7924800" cy="709865"/>
          </a:xfrm>
        </p:spPr>
        <p:txBody>
          <a:bodyPr/>
          <a:lstStyle/>
          <a:p>
            <a:pPr algn="ctr"/>
            <a:r>
              <a:rPr sz="3600" dirty="0">
                <a:latin typeface="Georgia" panose="02040502050405020303" pitchFamily="18" charset="0"/>
              </a:rPr>
              <a:t>Business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497" y="2207172"/>
            <a:ext cx="8156027" cy="3812628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Encourage customers to switch from </a:t>
            </a:r>
            <a:r>
              <a:rPr lang="en-IN" b="1" dirty="0"/>
              <a:t>Month-to-Month contracts</a:t>
            </a:r>
            <a:r>
              <a:rPr lang="en-IN" dirty="0"/>
              <a:t> to </a:t>
            </a:r>
            <a:r>
              <a:rPr lang="en-IN" b="1" dirty="0"/>
              <a:t>One-Year or Two-Year plans</a:t>
            </a:r>
            <a:r>
              <a:rPr lang="en-IN" dirty="0"/>
              <a:t> through discounts and loyalty benefits.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Provide </a:t>
            </a:r>
            <a:r>
              <a:rPr lang="en-IN" b="1" dirty="0"/>
              <a:t>bundled Internet + Online Security + Tech Support packages</a:t>
            </a:r>
            <a:r>
              <a:rPr lang="en-IN" dirty="0"/>
              <a:t> to reduce churn risk.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Launch targeted </a:t>
            </a:r>
            <a:r>
              <a:rPr lang="en-IN" b="1" dirty="0"/>
              <a:t>retention campaigns for High-Risk Customers</a:t>
            </a:r>
            <a:r>
              <a:rPr lang="en-IN" dirty="0"/>
              <a:t> before contract renewal periods.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Focus on </a:t>
            </a:r>
            <a:r>
              <a:rPr lang="en-IN" b="1" dirty="0"/>
              <a:t>Low-Value and New Customers</a:t>
            </a:r>
            <a:r>
              <a:rPr lang="en-IN" dirty="0"/>
              <a:t> with personalized offers to increase engagement and lifetime value.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By focusing on contract retention, service bundling, customer segmentation, and proactive engagement, the company can significantly reduce churn and improve customer lifetime value.</a:t>
            </a:r>
            <a:endParaRPr b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433" y="927098"/>
            <a:ext cx="7895302" cy="709865"/>
          </a:xfrm>
        </p:spPr>
        <p:txBody>
          <a:bodyPr/>
          <a:lstStyle/>
          <a:p>
            <a:pPr algn="ctr"/>
            <a:r>
              <a:rPr sz="3600" dirty="0">
                <a:latin typeface="Georgia" panose="02040502050405020303" pitchFamily="18" charset="0"/>
              </a:rPr>
              <a:t>Tools &amp;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5517" y="2564524"/>
            <a:ext cx="8061435" cy="3457904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1600" b="1" dirty="0"/>
              <a:t>Power BI</a:t>
            </a:r>
            <a:r>
              <a:rPr lang="en-IN" sz="1600" dirty="0"/>
              <a:t> – Interactive Dashboard Development &amp; Reporting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b="1" dirty="0"/>
              <a:t>Power Query</a:t>
            </a:r>
            <a:r>
              <a:rPr lang="en-IN" sz="1600" dirty="0"/>
              <a:t> – Data Cleaning, Transformation &amp; Preparation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b="1" dirty="0"/>
              <a:t>DAX (Data Analysis Expressions)</a:t>
            </a:r>
            <a:r>
              <a:rPr lang="en-IN" sz="1600" dirty="0"/>
              <a:t> – KPI Measures, Calculations &amp; Business Metrics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b="1" dirty="0"/>
              <a:t>Microsoft Excel / CSV Dataset</a:t>
            </a:r>
            <a:r>
              <a:rPr lang="en-IN" sz="1600" dirty="0"/>
              <a:t> – Data Source Management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b="1" dirty="0"/>
              <a:t>Python (Pandas)</a:t>
            </a:r>
            <a:r>
              <a:rPr lang="en-IN" sz="1600" dirty="0"/>
              <a:t> – Data Processing &amp; Feature Engineering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b="1" dirty="0"/>
              <a:t>FastAPI</a:t>
            </a:r>
            <a:r>
              <a:rPr lang="en-IN" sz="1600" dirty="0"/>
              <a:t> – API Development &amp; Data Integration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b="1" dirty="0"/>
              <a:t>SQL</a:t>
            </a:r>
            <a:r>
              <a:rPr lang="en-IN" sz="1600" dirty="0"/>
              <a:t> – Data Querying &amp; Analysis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b="1" dirty="0"/>
              <a:t>GitHub</a:t>
            </a:r>
            <a:r>
              <a:rPr lang="en-IN" sz="1600" dirty="0"/>
              <a:t> – Version Control &amp; Project Documentation</a:t>
            </a:r>
          </a:p>
          <a:p>
            <a:pPr>
              <a:buFont typeface="Wingdings" panose="05000000000000000000" pitchFamily="2" charset="2"/>
              <a:buChar char="Ø"/>
            </a:pP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432" y="927098"/>
            <a:ext cx="7925478" cy="709865"/>
          </a:xfrm>
        </p:spPr>
        <p:txBody>
          <a:bodyPr/>
          <a:lstStyle/>
          <a:p>
            <a:pPr algn="ctr"/>
            <a:r>
              <a:rPr sz="4000" dirty="0">
                <a:latin typeface="Georgia" panose="02040502050405020303" pitchFamily="18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1945" y="2249215"/>
            <a:ext cx="8092965" cy="3836275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1600" dirty="0"/>
              <a:t>Analyzed </a:t>
            </a:r>
            <a:r>
              <a:rPr lang="en-IN" sz="1600" b="1" dirty="0"/>
              <a:t>7,032 customer records</a:t>
            </a:r>
            <a:r>
              <a:rPr lang="en-IN" sz="1600" dirty="0"/>
              <a:t> to identify churn patterns and customer behaviour.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dirty="0"/>
              <a:t>Discovered key churn drivers including </a:t>
            </a:r>
            <a:r>
              <a:rPr lang="en-IN" sz="1600" b="1" dirty="0"/>
              <a:t>month-to-month contracts, lack of security/support services, and high-risk customer segments</a:t>
            </a:r>
            <a:r>
              <a:rPr lang="en-IN" sz="1600" dirty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dirty="0"/>
              <a:t>Built </a:t>
            </a:r>
            <a:r>
              <a:rPr lang="en-IN" sz="1600" b="1" dirty="0"/>
              <a:t>three interactive Power BI dashboards</a:t>
            </a:r>
            <a:r>
              <a:rPr lang="en-IN" sz="1600" dirty="0"/>
              <a:t> to monitor KPIs, customer insights, and value segmentation.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1600" dirty="0"/>
              <a:t>Provided </a:t>
            </a:r>
            <a:r>
              <a:rPr lang="en-IN" sz="1600" b="1" dirty="0"/>
              <a:t>data-driven recommendations</a:t>
            </a:r>
            <a:r>
              <a:rPr lang="en-IN" sz="1600" dirty="0"/>
              <a:t> to improve customer retention, increase revenue, and support business decision-making.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b="1" u="sng" dirty="0"/>
              <a:t>Closing Statement 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IN" dirty="0"/>
              <a:t>The project successfully transformed customer data into actionable business insights, enabling better retention strategies and long-term customer value growth.</a:t>
            </a:r>
            <a:endParaRPr lang="en-IN" b="1" u="sng" dirty="0"/>
          </a:p>
          <a:p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020F8A-C0E1-B99F-88A3-3430C117E8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3160" y="1740319"/>
            <a:ext cx="5917679" cy="861420"/>
          </a:xfrm>
        </p:spPr>
        <p:txBody>
          <a:bodyPr/>
          <a:lstStyle/>
          <a:p>
            <a:pPr algn="ctr"/>
            <a:r>
              <a:rPr lang="en-IN" sz="6600" b="1" dirty="0">
                <a:latin typeface="Georgia" panose="02040502050405020303" pitchFamily="18" charset="0"/>
              </a:rPr>
              <a:t>Thank You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B9A7D58-185E-174A-0156-C56174F79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2454" y="3247482"/>
            <a:ext cx="8219089" cy="1776463"/>
          </a:xfrm>
        </p:spPr>
        <p:txBody>
          <a:bodyPr>
            <a:normAutofit lnSpcReduction="10000"/>
          </a:bodyPr>
          <a:lstStyle/>
          <a:p>
            <a:pPr algn="ctr"/>
            <a:r>
              <a:rPr lang="en-IN" sz="2800" b="1" i="1" u="sng" dirty="0">
                <a:solidFill>
                  <a:schemeClr val="bg2"/>
                </a:solidFill>
                <a:latin typeface="Georgia" panose="02040502050405020303" pitchFamily="18" charset="0"/>
              </a:rPr>
              <a:t>Afzal Rangrej</a:t>
            </a:r>
          </a:p>
          <a:p>
            <a:pPr algn="ctr"/>
            <a:br>
              <a:rPr lang="en-IN" sz="2800" b="1" dirty="0">
                <a:solidFill>
                  <a:schemeClr val="bg2"/>
                </a:solidFill>
                <a:latin typeface="Georgia" panose="02040502050405020303" pitchFamily="18" charset="0"/>
              </a:rPr>
            </a:br>
            <a:r>
              <a:rPr lang="en-IN" sz="2800" b="1" dirty="0">
                <a:solidFill>
                  <a:schemeClr val="bg2"/>
                </a:solidFill>
                <a:latin typeface="Georgia" panose="02040502050405020303" pitchFamily="18" charset="0"/>
              </a:rPr>
              <a:t>Data Analyst Intern</a:t>
            </a:r>
            <a:br>
              <a:rPr lang="en-IN" sz="2800" b="1" dirty="0">
                <a:solidFill>
                  <a:schemeClr val="bg2"/>
                </a:solidFill>
                <a:latin typeface="Georgia" panose="02040502050405020303" pitchFamily="18" charset="0"/>
              </a:rPr>
            </a:br>
            <a:r>
              <a:rPr lang="en-IN" sz="2800" b="1" dirty="0">
                <a:solidFill>
                  <a:schemeClr val="bg2"/>
                </a:solidFill>
                <a:latin typeface="Georgia" panose="02040502050405020303" pitchFamily="18" charset="0"/>
              </a:rPr>
              <a:t>Customer Churn Analysis Project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835506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111</TotalTime>
  <Words>943</Words>
  <Application>Microsoft Office PowerPoint</Application>
  <PresentationFormat>On-screen Show (4:3)</PresentationFormat>
  <Paragraphs>112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Century Gothic</vt:lpstr>
      <vt:lpstr>Georgia</vt:lpstr>
      <vt:lpstr>Wingdings</vt:lpstr>
      <vt:lpstr>Wingdings 3</vt:lpstr>
      <vt:lpstr>Ion Boardroom</vt:lpstr>
      <vt:lpstr>Customer Churn Analysis</vt:lpstr>
      <vt:lpstr>Project Overview</vt:lpstr>
      <vt:lpstr>Problem Statement</vt:lpstr>
      <vt:lpstr>Project Objectives</vt:lpstr>
      <vt:lpstr>Dataset Overview</vt:lpstr>
      <vt:lpstr>Methodology</vt:lpstr>
      <vt:lpstr>Dashboard 1: Executive Summary</vt:lpstr>
      <vt:lpstr>Dashboard 1 : Key Insights</vt:lpstr>
      <vt:lpstr>Dashboard 2: Customer Insights</vt:lpstr>
      <vt:lpstr>Dashboard 2 : Key Insights</vt:lpstr>
      <vt:lpstr>Dashboard 3: Customer Value Segmentation</vt:lpstr>
      <vt:lpstr>Dashboard 3 : Key Insights</vt:lpstr>
      <vt:lpstr>Dashboard4: ML Model Performance &amp; Feature Importance</vt:lpstr>
      <vt:lpstr>Dashboard 4 Key Insights</vt:lpstr>
      <vt:lpstr>Business Recommendations</vt:lpstr>
      <vt:lpstr>Tools &amp; Technologies</vt:lpstr>
      <vt:lpstr>Conclusion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afzal rangrej</cp:lastModifiedBy>
  <cp:revision>28</cp:revision>
  <dcterms:created xsi:type="dcterms:W3CDTF">2013-01-27T09:14:16Z</dcterms:created>
  <dcterms:modified xsi:type="dcterms:W3CDTF">2026-06-06T07:01:06Z</dcterms:modified>
  <cp:category/>
</cp:coreProperties>
</file>