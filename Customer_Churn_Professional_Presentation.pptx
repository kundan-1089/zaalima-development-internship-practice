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3" r:id="rId15"/>
    <p:sldId id="268" r:id="rId16"/>
    <p:sldId id="274" r:id="rId17"/>
    <p:sldId id="275" r:id="rId18"/>
    <p:sldId id="276" r:id="rId19"/>
    <p:sldId id="277" r:id="rId20"/>
    <p:sldId id="278" r:id="rId21"/>
    <p:sldId id="269" r:id="rId22"/>
    <p:sldId id="270" r:id="rId23"/>
    <p:sldId id="271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4DE5FD-983F-4CAE-A83A-4BB1EB8B841D}" v="11" dt="2026-06-19T14:00:07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737" autoAdjust="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zal rangrej" userId="15d7d8049aa642b7" providerId="LiveId" clId="{35D2072F-A876-457F-B89A-E37866911419}"/>
    <pc:docChg chg="undo custSel addSld delSld modSld">
      <pc:chgData name="afzal rangrej" userId="15d7d8049aa642b7" providerId="LiveId" clId="{35D2072F-A876-457F-B89A-E37866911419}" dt="2026-06-19T14:17:18.564" v="607" actId="20577"/>
      <pc:docMkLst>
        <pc:docMk/>
      </pc:docMkLst>
      <pc:sldChg chg="modSp mod">
        <pc:chgData name="afzal rangrej" userId="15d7d8049aa642b7" providerId="LiveId" clId="{35D2072F-A876-457F-B89A-E37866911419}" dt="2026-06-19T14:17:06.388" v="599" actId="14100"/>
        <pc:sldMkLst>
          <pc:docMk/>
          <pc:sldMk cId="0" sldId="256"/>
        </pc:sldMkLst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56"/>
            <ac:spMk id="2" creationId="{00000000-0000-0000-0000-000000000000}"/>
          </ac:spMkLst>
        </pc:spChg>
        <pc:spChg chg="mod">
          <ac:chgData name="afzal rangrej" userId="15d7d8049aa642b7" providerId="LiveId" clId="{35D2072F-A876-457F-B89A-E37866911419}" dt="2026-06-19T14:17:06.388" v="599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fzal rangrej" userId="15d7d8049aa642b7" providerId="LiveId" clId="{35D2072F-A876-457F-B89A-E37866911419}" dt="2026-06-03T11:33:47.986" v="129" actId="12"/>
        <pc:sldMkLst>
          <pc:docMk/>
          <pc:sldMk cId="0" sldId="257"/>
        </pc:sldMkLst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57"/>
            <ac:spMk id="2" creationId="{00000000-0000-0000-0000-000000000000}"/>
          </ac:spMkLst>
        </pc:spChg>
        <pc:spChg chg="mod">
          <ac:chgData name="afzal rangrej" userId="15d7d8049aa642b7" providerId="LiveId" clId="{35D2072F-A876-457F-B89A-E37866911419}" dt="2026-06-03T11:33:47.986" v="129" actId="12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fzal rangrej" userId="15d7d8049aa642b7" providerId="LiveId" clId="{35D2072F-A876-457F-B89A-E37866911419}" dt="2026-06-03T11:33:53.441" v="130" actId="12"/>
        <pc:sldMkLst>
          <pc:docMk/>
          <pc:sldMk cId="0" sldId="258"/>
        </pc:sldMkLst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afzal rangrej" userId="15d7d8049aa642b7" providerId="LiveId" clId="{35D2072F-A876-457F-B89A-E37866911419}" dt="2026-06-03T11:33:53.441" v="130" actId="12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fzal rangrej" userId="15d7d8049aa642b7" providerId="LiveId" clId="{35D2072F-A876-457F-B89A-E37866911419}" dt="2026-06-03T11:34:00.356" v="131" actId="12"/>
        <pc:sldMkLst>
          <pc:docMk/>
          <pc:sldMk cId="0" sldId="259"/>
        </pc:sldMkLst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59"/>
            <ac:spMk id="2" creationId="{00000000-0000-0000-0000-000000000000}"/>
          </ac:spMkLst>
        </pc:spChg>
        <pc:spChg chg="mod">
          <ac:chgData name="afzal rangrej" userId="15d7d8049aa642b7" providerId="LiveId" clId="{35D2072F-A876-457F-B89A-E37866911419}" dt="2026-06-03T11:34:00.356" v="131" actId="12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fzal rangrej" userId="15d7d8049aa642b7" providerId="LiveId" clId="{35D2072F-A876-457F-B89A-E37866911419}" dt="2026-06-03T11:35:37.829" v="168" actId="20577"/>
        <pc:sldMkLst>
          <pc:docMk/>
          <pc:sldMk cId="0" sldId="260"/>
        </pc:sldMkLst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afzal rangrej" userId="15d7d8049aa642b7" providerId="LiveId" clId="{35D2072F-A876-457F-B89A-E37866911419}" dt="2026-06-03T11:35:37.829" v="168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fzal rangrej" userId="15d7d8049aa642b7" providerId="LiveId" clId="{35D2072F-A876-457F-B89A-E37866911419}" dt="2026-06-03T11:39:24.852" v="246" actId="20577"/>
        <pc:sldMkLst>
          <pc:docMk/>
          <pc:sldMk cId="0" sldId="261"/>
        </pc:sldMkLst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afzal rangrej" userId="15d7d8049aa642b7" providerId="LiveId" clId="{35D2072F-A876-457F-B89A-E37866911419}" dt="2026-06-03T11:39:24.852" v="246" actId="20577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afzal rangrej" userId="15d7d8049aa642b7" providerId="LiveId" clId="{35D2072F-A876-457F-B89A-E37866911419}" dt="2026-06-03T11:49:49.297" v="276" actId="1076"/>
        <pc:sldMkLst>
          <pc:docMk/>
          <pc:sldMk cId="0" sldId="262"/>
        </pc:sldMkLst>
        <pc:spChg chg="mod">
          <ac:chgData name="afzal rangrej" userId="15d7d8049aa642b7" providerId="LiveId" clId="{35D2072F-A876-457F-B89A-E37866911419}" dt="2026-06-03T11:39:49.274" v="247" actId="255"/>
          <ac:spMkLst>
            <pc:docMk/>
            <pc:sldMk cId="0" sldId="262"/>
            <ac:spMk id="2" creationId="{00000000-0000-0000-0000-000000000000}"/>
          </ac:spMkLst>
        </pc:spChg>
        <pc:picChg chg="add mod ord">
          <ac:chgData name="afzal rangrej" userId="15d7d8049aa642b7" providerId="LiveId" clId="{35D2072F-A876-457F-B89A-E37866911419}" dt="2026-06-03T11:49:49.297" v="276" actId="1076"/>
          <ac:picMkLst>
            <pc:docMk/>
            <pc:sldMk cId="0" sldId="262"/>
            <ac:picMk id="5" creationId="{9EF51555-D904-9FEA-A413-26586C49A955}"/>
          </ac:picMkLst>
        </pc:picChg>
      </pc:sldChg>
      <pc:sldChg chg="modSp mod">
        <pc:chgData name="afzal rangrej" userId="15d7d8049aa642b7" providerId="LiveId" clId="{35D2072F-A876-457F-B89A-E37866911419}" dt="2026-06-03T11:48:53.946" v="266" actId="14100"/>
        <pc:sldMkLst>
          <pc:docMk/>
          <pc:sldMk cId="0" sldId="263"/>
        </pc:sldMkLst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63"/>
            <ac:spMk id="2" creationId="{00000000-0000-0000-0000-000000000000}"/>
          </ac:spMkLst>
        </pc:spChg>
        <pc:spChg chg="mod">
          <ac:chgData name="afzal rangrej" userId="15d7d8049aa642b7" providerId="LiveId" clId="{35D2072F-A876-457F-B89A-E37866911419}" dt="2026-06-03T11:48:53.946" v="266" actId="14100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">
        <pc:chgData name="afzal rangrej" userId="15d7d8049aa642b7" providerId="LiveId" clId="{35D2072F-A876-457F-B89A-E37866911419}" dt="2026-06-03T11:49:45.621" v="275" actId="1076"/>
        <pc:sldMkLst>
          <pc:docMk/>
          <pc:sldMk cId="0" sldId="264"/>
        </pc:sldMkLst>
        <pc:spChg chg="mod">
          <ac:chgData name="afzal rangrej" userId="15d7d8049aa642b7" providerId="LiveId" clId="{35D2072F-A876-457F-B89A-E37866911419}" dt="2026-06-03T11:49:29.614" v="272" actId="255"/>
          <ac:spMkLst>
            <pc:docMk/>
            <pc:sldMk cId="0" sldId="264"/>
            <ac:spMk id="2" creationId="{00000000-0000-0000-0000-000000000000}"/>
          </ac:spMkLst>
        </pc:spChg>
        <pc:picChg chg="add mod ord">
          <ac:chgData name="afzal rangrej" userId="15d7d8049aa642b7" providerId="LiveId" clId="{35D2072F-A876-457F-B89A-E37866911419}" dt="2026-06-03T11:49:45.621" v="275" actId="1076"/>
          <ac:picMkLst>
            <pc:docMk/>
            <pc:sldMk cId="0" sldId="264"/>
            <ac:picMk id="5" creationId="{ADC7FAEB-63F1-7A38-A061-318A76F461E5}"/>
          </ac:picMkLst>
        </pc:picChg>
      </pc:sldChg>
      <pc:sldChg chg="modSp mod">
        <pc:chgData name="afzal rangrej" userId="15d7d8049aa642b7" providerId="LiveId" clId="{35D2072F-A876-457F-B89A-E37866911419}" dt="2026-06-03T11:58:40.823" v="361" actId="255"/>
        <pc:sldMkLst>
          <pc:docMk/>
          <pc:sldMk cId="0" sldId="265"/>
        </pc:sldMkLst>
        <pc:spChg chg="mod">
          <ac:chgData name="afzal rangrej" userId="15d7d8049aa642b7" providerId="LiveId" clId="{35D2072F-A876-457F-B89A-E37866911419}" dt="2026-06-03T11:53:07.585" v="302" actId="122"/>
          <ac:spMkLst>
            <pc:docMk/>
            <pc:sldMk cId="0" sldId="265"/>
            <ac:spMk id="2" creationId="{00000000-0000-0000-0000-000000000000}"/>
          </ac:spMkLst>
        </pc:spChg>
        <pc:spChg chg="mod">
          <ac:chgData name="afzal rangrej" userId="15d7d8049aa642b7" providerId="LiveId" clId="{35D2072F-A876-457F-B89A-E37866911419}" dt="2026-06-03T11:58:40.823" v="361" actId="255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mod">
        <pc:chgData name="afzal rangrej" userId="15d7d8049aa642b7" providerId="LiveId" clId="{35D2072F-A876-457F-B89A-E37866911419}" dt="2026-06-03T11:53:55.386" v="310" actId="14100"/>
        <pc:sldMkLst>
          <pc:docMk/>
          <pc:sldMk cId="0" sldId="266"/>
        </pc:sldMkLst>
        <pc:spChg chg="mod">
          <ac:chgData name="afzal rangrej" userId="15d7d8049aa642b7" providerId="LiveId" clId="{35D2072F-A876-457F-B89A-E37866911419}" dt="2026-06-03T11:52:59.384" v="301" actId="122"/>
          <ac:spMkLst>
            <pc:docMk/>
            <pc:sldMk cId="0" sldId="266"/>
            <ac:spMk id="2" creationId="{00000000-0000-0000-0000-000000000000}"/>
          </ac:spMkLst>
        </pc:spChg>
        <pc:picChg chg="add mod ord">
          <ac:chgData name="afzal rangrej" userId="15d7d8049aa642b7" providerId="LiveId" clId="{35D2072F-A876-457F-B89A-E37866911419}" dt="2026-06-03T11:53:55.386" v="310" actId="14100"/>
          <ac:picMkLst>
            <pc:docMk/>
            <pc:sldMk cId="0" sldId="266"/>
            <ac:picMk id="5" creationId="{3FC7BF5D-5B04-7E20-C08D-6F35E0F32574}"/>
          </ac:picMkLst>
        </pc:picChg>
      </pc:sldChg>
      <pc:sldChg chg="modSp mod">
        <pc:chgData name="afzal rangrej" userId="15d7d8049aa642b7" providerId="LiveId" clId="{35D2072F-A876-457F-B89A-E37866911419}" dt="2026-06-03T12:00:24.973" v="396" actId="14100"/>
        <pc:sldMkLst>
          <pc:docMk/>
          <pc:sldMk cId="0" sldId="267"/>
        </pc:sldMkLst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67"/>
            <ac:spMk id="2" creationId="{00000000-0000-0000-0000-000000000000}"/>
          </ac:spMkLst>
        </pc:spChg>
        <pc:spChg chg="mod">
          <ac:chgData name="afzal rangrej" userId="15d7d8049aa642b7" providerId="LiveId" clId="{35D2072F-A876-457F-B89A-E37866911419}" dt="2026-06-03T12:00:24.973" v="396" actId="14100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afzal rangrej" userId="15d7d8049aa642b7" providerId="LiveId" clId="{35D2072F-A876-457F-B89A-E37866911419}" dt="2026-06-03T10:47:45.138" v="0"/>
        <pc:sldMkLst>
          <pc:docMk/>
          <pc:sldMk cId="0" sldId="268"/>
        </pc:sldMkLst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68"/>
            <ac:spMk id="2" creationId="{00000000-0000-0000-0000-000000000000}"/>
          </ac:spMkLst>
        </pc:spChg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68"/>
            <ac:spMk id="3" creationId="{00000000-0000-0000-0000-000000000000}"/>
          </ac:spMkLst>
        </pc:spChg>
      </pc:sldChg>
      <pc:sldChg chg="modSp">
        <pc:chgData name="afzal rangrej" userId="15d7d8049aa642b7" providerId="LiveId" clId="{35D2072F-A876-457F-B89A-E37866911419}" dt="2026-06-03T10:47:45.138" v="0"/>
        <pc:sldMkLst>
          <pc:docMk/>
          <pc:sldMk cId="0" sldId="269"/>
        </pc:sldMkLst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69"/>
            <ac:spMk id="2" creationId="{00000000-0000-0000-0000-000000000000}"/>
          </ac:spMkLst>
        </pc:spChg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69"/>
            <ac:spMk id="3" creationId="{00000000-0000-0000-0000-000000000000}"/>
          </ac:spMkLst>
        </pc:spChg>
      </pc:sldChg>
      <pc:sldChg chg="modSp">
        <pc:chgData name="afzal rangrej" userId="15d7d8049aa642b7" providerId="LiveId" clId="{35D2072F-A876-457F-B89A-E37866911419}" dt="2026-06-03T10:47:45.138" v="0"/>
        <pc:sldMkLst>
          <pc:docMk/>
          <pc:sldMk cId="0" sldId="270"/>
        </pc:sldMkLst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70"/>
            <ac:spMk id="2" creationId="{00000000-0000-0000-0000-000000000000}"/>
          </ac:spMkLst>
        </pc:spChg>
        <pc:spChg chg="mod">
          <ac:chgData name="afzal rangrej" userId="15d7d8049aa642b7" providerId="LiveId" clId="{35D2072F-A876-457F-B89A-E37866911419}" dt="2026-06-03T10:47:45.138" v="0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afzal rangrej" userId="15d7d8049aa642b7" providerId="LiveId" clId="{35D2072F-A876-457F-B89A-E37866911419}" dt="2026-06-19T14:17:18.564" v="607" actId="20577"/>
        <pc:sldMkLst>
          <pc:docMk/>
          <pc:sldMk cId="2348355061" sldId="271"/>
        </pc:sldMkLst>
        <pc:spChg chg="mod">
          <ac:chgData name="afzal rangrej" userId="15d7d8049aa642b7" providerId="LiveId" clId="{35D2072F-A876-457F-B89A-E37866911419}" dt="2026-06-19T14:17:18.564" v="607" actId="20577"/>
          <ac:spMkLst>
            <pc:docMk/>
            <pc:sldMk cId="2348355061" sldId="271"/>
            <ac:spMk id="5" creationId="{4B9A7D58-185E-174A-0156-C56174F7964C}"/>
          </ac:spMkLst>
        </pc:spChg>
      </pc:sldChg>
      <pc:sldChg chg="modSp new mod modClrScheme chgLayout">
        <pc:chgData name="afzal rangrej" userId="15d7d8049aa642b7" providerId="LiveId" clId="{35D2072F-A876-457F-B89A-E37866911419}" dt="2026-06-19T13:45:18.207" v="447" actId="700"/>
        <pc:sldMkLst>
          <pc:docMk/>
          <pc:sldMk cId="357344489" sldId="274"/>
        </pc:sldMkLst>
        <pc:spChg chg="mod ord">
          <ac:chgData name="afzal rangrej" userId="15d7d8049aa642b7" providerId="LiveId" clId="{35D2072F-A876-457F-B89A-E37866911419}" dt="2026-06-19T13:45:18.207" v="447" actId="700"/>
          <ac:spMkLst>
            <pc:docMk/>
            <pc:sldMk cId="357344489" sldId="274"/>
            <ac:spMk id="2" creationId="{D14EB1A7-41C6-926F-0718-C034FA7D8AAC}"/>
          </ac:spMkLst>
        </pc:spChg>
        <pc:spChg chg="mod ord">
          <ac:chgData name="afzal rangrej" userId="15d7d8049aa642b7" providerId="LiveId" clId="{35D2072F-A876-457F-B89A-E37866911419}" dt="2026-06-19T13:45:18.207" v="447" actId="700"/>
          <ac:spMkLst>
            <pc:docMk/>
            <pc:sldMk cId="357344489" sldId="274"/>
            <ac:spMk id="3" creationId="{41D88E51-735E-BC70-24B6-F4BA191D8584}"/>
          </ac:spMkLst>
        </pc:spChg>
      </pc:sldChg>
      <pc:sldChg chg="delSp new del mod modClrScheme chgLayout">
        <pc:chgData name="afzal rangrej" userId="15d7d8049aa642b7" providerId="LiveId" clId="{35D2072F-A876-457F-B89A-E37866911419}" dt="2026-06-19T13:45:52.431" v="450" actId="2696"/>
        <pc:sldMkLst>
          <pc:docMk/>
          <pc:sldMk cId="2749678830" sldId="275"/>
        </pc:sldMkLst>
        <pc:spChg chg="del">
          <ac:chgData name="afzal rangrej" userId="15d7d8049aa642b7" providerId="LiveId" clId="{35D2072F-A876-457F-B89A-E37866911419}" dt="2026-06-19T13:45:29.858" v="449" actId="700"/>
          <ac:spMkLst>
            <pc:docMk/>
            <pc:sldMk cId="2749678830" sldId="275"/>
            <ac:spMk id="2" creationId="{C2B659C6-AFB2-8559-F61C-F07C2CFC1706}"/>
          </ac:spMkLst>
        </pc:spChg>
        <pc:spChg chg="del">
          <ac:chgData name="afzal rangrej" userId="15d7d8049aa642b7" providerId="LiveId" clId="{35D2072F-A876-457F-B89A-E37866911419}" dt="2026-06-19T13:45:29.858" v="449" actId="700"/>
          <ac:spMkLst>
            <pc:docMk/>
            <pc:sldMk cId="2749678830" sldId="275"/>
            <ac:spMk id="3" creationId="{F3AEF276-7B47-3DAF-3117-81BC22E85E43}"/>
          </ac:spMkLst>
        </pc:spChg>
      </pc:sldChg>
      <pc:sldChg chg="modSp new mod">
        <pc:chgData name="afzal rangrej" userId="15d7d8049aa642b7" providerId="LiveId" clId="{35D2072F-A876-457F-B89A-E37866911419}" dt="2026-06-19T13:48:31.993" v="537" actId="27636"/>
        <pc:sldMkLst>
          <pc:docMk/>
          <pc:sldMk cId="4261158521" sldId="275"/>
        </pc:sldMkLst>
        <pc:spChg chg="mod">
          <ac:chgData name="afzal rangrej" userId="15d7d8049aa642b7" providerId="LiveId" clId="{35D2072F-A876-457F-B89A-E37866911419}" dt="2026-06-19T13:46:42.317" v="458" actId="14100"/>
          <ac:spMkLst>
            <pc:docMk/>
            <pc:sldMk cId="4261158521" sldId="275"/>
            <ac:spMk id="2" creationId="{1A657EAB-0359-A518-5F4C-41A12A3E0E56}"/>
          </ac:spMkLst>
        </pc:spChg>
        <pc:spChg chg="mod">
          <ac:chgData name="afzal rangrej" userId="15d7d8049aa642b7" providerId="LiveId" clId="{35D2072F-A876-457F-B89A-E37866911419}" dt="2026-06-19T13:48:31.993" v="537" actId="27636"/>
          <ac:spMkLst>
            <pc:docMk/>
            <pc:sldMk cId="4261158521" sldId="275"/>
            <ac:spMk id="3" creationId="{619B3F86-0341-BDBE-0ED5-08ABF655D752}"/>
          </ac:spMkLst>
        </pc:spChg>
      </pc:sldChg>
      <pc:sldChg chg="addSp delSp modSp new mod">
        <pc:chgData name="afzal rangrej" userId="15d7d8049aa642b7" providerId="LiveId" clId="{35D2072F-A876-457F-B89A-E37866911419}" dt="2026-06-19T13:52:18.654" v="556" actId="113"/>
        <pc:sldMkLst>
          <pc:docMk/>
          <pc:sldMk cId="1700926808" sldId="276"/>
        </pc:sldMkLst>
        <pc:spChg chg="mod">
          <ac:chgData name="afzal rangrej" userId="15d7d8049aa642b7" providerId="LiveId" clId="{35D2072F-A876-457F-B89A-E37866911419}" dt="2026-06-19T13:51:25.537" v="547" actId="403"/>
          <ac:spMkLst>
            <pc:docMk/>
            <pc:sldMk cId="1700926808" sldId="276"/>
            <ac:spMk id="2" creationId="{53D8E014-A858-8023-9F86-F1C3D71E483E}"/>
          </ac:spMkLst>
        </pc:spChg>
        <pc:spChg chg="del mod">
          <ac:chgData name="afzal rangrej" userId="15d7d8049aa642b7" providerId="LiveId" clId="{35D2072F-A876-457F-B89A-E37866911419}" dt="2026-06-19T13:51:48.615" v="550"/>
          <ac:spMkLst>
            <pc:docMk/>
            <pc:sldMk cId="1700926808" sldId="276"/>
            <ac:spMk id="3" creationId="{FCC5710A-BCFD-7531-6C8B-3C443EB60A50}"/>
          </ac:spMkLst>
        </pc:spChg>
        <pc:graphicFrameChg chg="add mod modGraphic">
          <ac:chgData name="afzal rangrej" userId="15d7d8049aa642b7" providerId="LiveId" clId="{35D2072F-A876-457F-B89A-E37866911419}" dt="2026-06-19T13:52:18.654" v="556" actId="113"/>
          <ac:graphicFrameMkLst>
            <pc:docMk/>
            <pc:sldMk cId="1700926808" sldId="276"/>
            <ac:graphicFrameMk id="6" creationId="{148DDDFD-3B6C-5B9C-2E43-311A6E91C31B}"/>
          </ac:graphicFrameMkLst>
        </pc:graphicFrameChg>
      </pc:sldChg>
      <pc:sldChg chg="addSp delSp modSp new mod">
        <pc:chgData name="afzal rangrej" userId="15d7d8049aa642b7" providerId="LiveId" clId="{35D2072F-A876-457F-B89A-E37866911419}" dt="2026-06-19T13:59:02.818" v="574" actId="14100"/>
        <pc:sldMkLst>
          <pc:docMk/>
          <pc:sldMk cId="1063342342" sldId="277"/>
        </pc:sldMkLst>
        <pc:spChg chg="mod">
          <ac:chgData name="afzal rangrej" userId="15d7d8049aa642b7" providerId="LiveId" clId="{35D2072F-A876-457F-B89A-E37866911419}" dt="2026-06-19T13:53:37.350" v="569" actId="403"/>
          <ac:spMkLst>
            <pc:docMk/>
            <pc:sldMk cId="1063342342" sldId="277"/>
            <ac:spMk id="2" creationId="{AAA357B8-ADC1-F9CB-B776-A17212D704AD}"/>
          </ac:spMkLst>
        </pc:spChg>
        <pc:spChg chg="del mod">
          <ac:chgData name="afzal rangrej" userId="15d7d8049aa642b7" providerId="LiveId" clId="{35D2072F-A876-457F-B89A-E37866911419}" dt="2026-06-19T13:58:53.939" v="572" actId="931"/>
          <ac:spMkLst>
            <pc:docMk/>
            <pc:sldMk cId="1063342342" sldId="277"/>
            <ac:spMk id="3" creationId="{C55766D0-516A-936B-BF88-72057A380B41}"/>
          </ac:spMkLst>
        </pc:spChg>
        <pc:picChg chg="add mod ord">
          <ac:chgData name="afzal rangrej" userId="15d7d8049aa642b7" providerId="LiveId" clId="{35D2072F-A876-457F-B89A-E37866911419}" dt="2026-06-19T13:59:02.818" v="574" actId="14100"/>
          <ac:picMkLst>
            <pc:docMk/>
            <pc:sldMk cId="1063342342" sldId="277"/>
            <ac:picMk id="5" creationId="{66ADB983-C0CE-B4D8-0822-A8D2F066347A}"/>
          </ac:picMkLst>
        </pc:picChg>
      </pc:sldChg>
      <pc:sldChg chg="addSp delSp modSp new mod">
        <pc:chgData name="afzal rangrej" userId="15d7d8049aa642b7" providerId="LiveId" clId="{35D2072F-A876-457F-B89A-E37866911419}" dt="2026-06-19T14:01:37.898" v="591" actId="14100"/>
        <pc:sldMkLst>
          <pc:docMk/>
          <pc:sldMk cId="3315836913" sldId="278"/>
        </pc:sldMkLst>
        <pc:spChg chg="mod">
          <ac:chgData name="afzal rangrej" userId="15d7d8049aa642b7" providerId="LiveId" clId="{35D2072F-A876-457F-B89A-E37866911419}" dt="2026-06-19T14:00:25.769" v="584" actId="1076"/>
          <ac:spMkLst>
            <pc:docMk/>
            <pc:sldMk cId="3315836913" sldId="278"/>
            <ac:spMk id="2" creationId="{3F35EBD6-79D9-18F6-E605-01BB262C1B06}"/>
          </ac:spMkLst>
        </pc:spChg>
        <pc:spChg chg="del mod">
          <ac:chgData name="afzal rangrej" userId="15d7d8049aa642b7" providerId="LiveId" clId="{35D2072F-A876-457F-B89A-E37866911419}" dt="2026-06-19T14:01:30.383" v="589" actId="931"/>
          <ac:spMkLst>
            <pc:docMk/>
            <pc:sldMk cId="3315836913" sldId="278"/>
            <ac:spMk id="3" creationId="{B0B0B4A2-4F22-98E4-D78F-4FF31503CABE}"/>
          </ac:spMkLst>
        </pc:spChg>
        <pc:picChg chg="add mod ord">
          <ac:chgData name="afzal rangrej" userId="15d7d8049aa642b7" providerId="LiveId" clId="{35D2072F-A876-457F-B89A-E37866911419}" dt="2026-06-19T14:01:37.898" v="591" actId="14100"/>
          <ac:picMkLst>
            <pc:docMk/>
            <pc:sldMk cId="3315836913" sldId="278"/>
            <ac:picMk id="5" creationId="{DDF29DED-D2CF-14C9-BD18-56E54017E24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0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939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7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71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6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3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5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9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55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74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47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86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198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75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8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0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2" y="927098"/>
            <a:ext cx="7885471" cy="709865"/>
          </a:xfrm>
        </p:spPr>
        <p:txBody>
          <a:bodyPr/>
          <a:lstStyle/>
          <a:p>
            <a:pPr algn="ctr"/>
            <a:r>
              <a:rPr sz="4000" dirty="0">
                <a:latin typeface="Georgia" panose="02040502050405020303" pitchFamily="18" charset="0"/>
              </a:rPr>
              <a:t>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433" y="2489200"/>
            <a:ext cx="7885470" cy="3530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 Analyst </a:t>
            </a:r>
            <a:r>
              <a:rPr dirty="0"/>
              <a:t>Internship Project Presentation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Prepared By: </a:t>
            </a:r>
            <a:r>
              <a:rPr lang="en-IN" b="1" dirty="0"/>
              <a:t>Afzal Rangrej &amp; Team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Tools Used:</a:t>
            </a:r>
          </a:p>
          <a:p>
            <a:pPr marL="402336" lvl="1" indent="0">
              <a:buNone/>
            </a:pPr>
            <a:r>
              <a:rPr lang="en-IN" dirty="0"/>
              <a:t>	Python </a:t>
            </a:r>
          </a:p>
          <a:p>
            <a:pPr marL="402336" lvl="1" indent="0">
              <a:buNone/>
            </a:pPr>
            <a:r>
              <a:rPr lang="en-IN" dirty="0"/>
              <a:t>	SQL </a:t>
            </a:r>
          </a:p>
          <a:p>
            <a:pPr marL="402336" lvl="1" indent="0">
              <a:buNone/>
            </a:pPr>
            <a:r>
              <a:rPr lang="en-IN" dirty="0"/>
              <a:t>	FastAPI </a:t>
            </a:r>
          </a:p>
          <a:p>
            <a:pPr marL="402336" lvl="1" indent="0">
              <a:buNone/>
            </a:pPr>
            <a:r>
              <a:rPr lang="en-IN" dirty="0"/>
              <a:t>	Power BI </a:t>
            </a:r>
          </a:p>
          <a:p>
            <a:pPr marL="402336" lvl="1" indent="0">
              <a:buNone/>
            </a:pP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265" y="927098"/>
            <a:ext cx="7865805" cy="709865"/>
          </a:xfrm>
        </p:spPr>
        <p:txBody>
          <a:bodyPr/>
          <a:lstStyle/>
          <a:p>
            <a:pPr algn="ctr"/>
            <a:r>
              <a:rPr dirty="0">
                <a:latin typeface="Georgia" panose="02040502050405020303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22570" cy="359629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Analyze telecom customer churn, identify churn drivers, segment customers by value, and provide business insights using Power BI.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This project focuses on </a:t>
            </a:r>
            <a:r>
              <a:rPr lang="en-IN" dirty="0" err="1"/>
              <a:t>analyzing</a:t>
            </a:r>
            <a:r>
              <a:rPr lang="en-IN" dirty="0"/>
              <a:t> customer churn in a telecom company.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Using customer demographic, service, and revenue data, we identified churn drivers, segmented customers based on value, and developed interactive Power BI dashboards.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The objective is to help management understand customer behaviour and make data-driven retention decisions.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768" y="927098"/>
            <a:ext cx="7945142" cy="709865"/>
          </a:xfrm>
        </p:spPr>
        <p:txBody>
          <a:bodyPr/>
          <a:lstStyle/>
          <a:p>
            <a:pPr algn="ctr"/>
            <a:r>
              <a:rPr dirty="0">
                <a:latin typeface="Georgia" panose="02040502050405020303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199"/>
            <a:ext cx="7680528" cy="362782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High customer churn impacts revenue and growth. The objective is to identify risk factors and improve retention.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Data-driven insights are required to improve customer retention and loyalty.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Customer churn negatively impacts profitability and customer lifetime value.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Understanding churn behaviour is essential for effective retention strategies.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The goal is to identify high-risk customers and reduce future churn.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768" y="927098"/>
            <a:ext cx="7892590" cy="709865"/>
          </a:xfrm>
        </p:spPr>
        <p:txBody>
          <a:bodyPr/>
          <a:lstStyle/>
          <a:p>
            <a:pPr algn="ctr"/>
            <a:r>
              <a:rPr dirty="0">
                <a:latin typeface="Georgia" panose="02040502050405020303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7627977" cy="389057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Analyze customer churn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Measure churn rate and retention trends.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Identify major churn drivers.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Segment customers by value.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Analyze revenue contribution.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Support data-driven business decisions.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935" y="927098"/>
            <a:ext cx="7954975" cy="709865"/>
          </a:xfrm>
        </p:spPr>
        <p:txBody>
          <a:bodyPr/>
          <a:lstStyle/>
          <a:p>
            <a:pPr algn="ctr"/>
            <a:r>
              <a:rPr dirty="0">
                <a:latin typeface="Georgia" panose="02040502050405020303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07173"/>
            <a:ext cx="7680528" cy="452995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Dataset Name: </a:t>
            </a:r>
            <a:r>
              <a:rPr lang="en-IN" b="1" dirty="0"/>
              <a:t>Telco Customer Churn Dataset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Total Records: </a:t>
            </a:r>
            <a:r>
              <a:rPr lang="en-IN" b="1" dirty="0"/>
              <a:t>7,032 Customers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Target Variable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b="1" dirty="0"/>
              <a:t>Churn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Major Attributes:</a:t>
            </a:r>
          </a:p>
          <a:p>
            <a:pPr marL="0" indent="0">
              <a:buNone/>
            </a:pPr>
            <a:r>
              <a:rPr lang="en-IN" dirty="0"/>
              <a:t>		Customer Demographics</a:t>
            </a:r>
          </a:p>
          <a:p>
            <a:pPr marL="0" indent="0">
              <a:buNone/>
            </a:pPr>
            <a:r>
              <a:rPr lang="en-IN" dirty="0"/>
              <a:t>		Contract Information</a:t>
            </a:r>
          </a:p>
          <a:p>
            <a:pPr marL="0" indent="0">
              <a:buNone/>
            </a:pPr>
            <a:r>
              <a:rPr lang="en-IN" dirty="0"/>
              <a:t>		Revenue Metrics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Business Goal:</a:t>
            </a:r>
          </a:p>
          <a:p>
            <a:pPr marL="0" indent="0">
              <a:buNone/>
            </a:pPr>
            <a:r>
              <a:rPr lang="en-IN" dirty="0"/>
              <a:t>		Understand churn behaviour </a:t>
            </a:r>
          </a:p>
          <a:p>
            <a:pPr marL="0" indent="0">
              <a:buNone/>
            </a:pPr>
            <a:r>
              <a:rPr lang="en-IN" dirty="0"/>
              <a:t>		Identify high-risk customers </a:t>
            </a:r>
          </a:p>
          <a:p>
            <a:pPr marL="0" indent="0">
              <a:buNone/>
            </a:pPr>
            <a:r>
              <a:rPr lang="en-IN" dirty="0"/>
              <a:t>		Support retention strategies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27098"/>
            <a:ext cx="7924800" cy="709865"/>
          </a:xfrm>
        </p:spPr>
        <p:txBody>
          <a:bodyPr/>
          <a:lstStyle/>
          <a:p>
            <a:pPr algn="ctr"/>
            <a:r>
              <a:rPr dirty="0">
                <a:latin typeface="Georgia" panose="02040502050405020303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28193"/>
            <a:ext cx="7670018" cy="449842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/>
              <a:t>Data Collection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/>
              <a:t>Data Cleaning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/>
              <a:t>Feature Engineering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/>
              <a:t>Exploratory Data Analysis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/>
              <a:t>Dashboard Development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/>
              <a:t>Business Insights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/>
              <a:t>Deployment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265" y="927098"/>
            <a:ext cx="7885469" cy="709865"/>
          </a:xfrm>
        </p:spPr>
        <p:txBody>
          <a:bodyPr/>
          <a:lstStyle/>
          <a:p>
            <a:pPr algn="ctr"/>
            <a:r>
              <a:rPr dirty="0">
                <a:latin typeface="Georgia" panose="02040502050405020303" pitchFamily="18" charset="0"/>
              </a:rPr>
              <a:t>Dashboard 1: Executive Summary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F51555-D904-9FEA-A413-26586C49A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983" y="2227920"/>
            <a:ext cx="8086034" cy="45354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265" y="927098"/>
            <a:ext cx="7894623" cy="709865"/>
          </a:xfrm>
        </p:spPr>
        <p:txBody>
          <a:bodyPr/>
          <a:lstStyle/>
          <a:p>
            <a:pPr algn="ctr"/>
            <a:r>
              <a:rPr dirty="0">
                <a:latin typeface="Georgia" panose="02040502050405020303" pitchFamily="18" charset="0"/>
              </a:rPr>
              <a:t>Dashboard 1 </a:t>
            </a:r>
            <a:r>
              <a:rPr lang="en-IN" dirty="0">
                <a:latin typeface="Georgia" panose="02040502050405020303" pitchFamily="18" charset="0"/>
              </a:rPr>
              <a:t>: </a:t>
            </a:r>
            <a:r>
              <a:rPr dirty="0">
                <a:latin typeface="Georgia" panose="02040502050405020303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726" y="2489200"/>
            <a:ext cx="7817163" cy="32389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Overall churn rate is </a:t>
            </a:r>
            <a:r>
              <a:rPr lang="en-IN" b="1" dirty="0"/>
              <a:t>26.58%</a:t>
            </a:r>
            <a:r>
              <a:rPr lang="en-IN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Month-to-Month customers churn the most.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Fiber Optic users show higher churn.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Electronic Check customers have higher churn.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Total revenue generated is </a:t>
            </a:r>
            <a:r>
              <a:rPr lang="en-IN" b="1" dirty="0"/>
              <a:t>₹16.06M</a:t>
            </a:r>
            <a:r>
              <a:rPr lang="en-IN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Contract type and payment method strongly influence churn.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27098"/>
            <a:ext cx="7914968" cy="709865"/>
          </a:xfrm>
        </p:spPr>
        <p:txBody>
          <a:bodyPr/>
          <a:lstStyle/>
          <a:p>
            <a:pPr algn="ctr"/>
            <a:r>
              <a:rPr dirty="0">
                <a:latin typeface="Georgia" panose="02040502050405020303" pitchFamily="18" charset="0"/>
              </a:rPr>
              <a:t>Dashboard 2: Customer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C7FAEB-63F1-7A38-A061-318A76F46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471" y="2238375"/>
            <a:ext cx="8067058" cy="45196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439" y="927098"/>
            <a:ext cx="8026513" cy="709865"/>
          </a:xfrm>
        </p:spPr>
        <p:txBody>
          <a:bodyPr/>
          <a:lstStyle/>
          <a:p>
            <a:pPr algn="ctr"/>
            <a:r>
              <a:rPr dirty="0">
                <a:latin typeface="Georgia" panose="02040502050405020303" pitchFamily="18" charset="0"/>
              </a:rPr>
              <a:t>Dashboard 2 </a:t>
            </a:r>
            <a:r>
              <a:rPr lang="en-IN" dirty="0">
                <a:latin typeface="Georgia" panose="02040502050405020303" pitchFamily="18" charset="0"/>
              </a:rPr>
              <a:t>: </a:t>
            </a:r>
            <a:r>
              <a:rPr dirty="0">
                <a:latin typeface="Georgia" panose="02040502050405020303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924" y="2217683"/>
            <a:ext cx="8156028" cy="451944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700" dirty="0"/>
              <a:t>Overall churn rate remains </a:t>
            </a:r>
            <a:r>
              <a:rPr lang="en-IN" sz="1700" b="1" dirty="0"/>
              <a:t>26.58%</a:t>
            </a:r>
            <a:r>
              <a:rPr lang="en-IN" sz="1700" dirty="0"/>
              <a:t>, with </a:t>
            </a:r>
            <a:r>
              <a:rPr lang="en-IN" sz="1700" b="1" dirty="0"/>
              <a:t>631 High-Risk Customers</a:t>
            </a:r>
            <a:r>
              <a:rPr lang="en-IN" sz="1700" dirty="0"/>
              <a:t> identified.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b="1" dirty="0"/>
              <a:t>Gender has minimal impact</a:t>
            </a:r>
            <a:r>
              <a:rPr lang="en-IN" sz="1700" dirty="0"/>
              <a:t> on churn, as male and female customers show similar churn patterns.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b="1" dirty="0"/>
              <a:t>Senior Citizens exhibit higher churn risk</a:t>
            </a:r>
            <a:r>
              <a:rPr lang="en-IN" sz="1700" dirty="0"/>
              <a:t> compared to non-senior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b="1" dirty="0"/>
              <a:t>New and short-tenure customers</a:t>
            </a:r>
            <a:r>
              <a:rPr lang="en-IN" sz="1700" dirty="0"/>
              <a:t> are more likely to churn than long-term customers.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dirty="0"/>
              <a:t>Customers </a:t>
            </a:r>
            <a:r>
              <a:rPr lang="en-IN" sz="1700" b="1" dirty="0"/>
              <a:t>without Online Security</a:t>
            </a:r>
            <a:r>
              <a:rPr lang="en-IN" sz="1700" dirty="0"/>
              <a:t> show significantly higher churn levels.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dirty="0"/>
              <a:t>Customers </a:t>
            </a:r>
            <a:r>
              <a:rPr lang="en-IN" sz="1700" b="1" dirty="0"/>
              <a:t>without Tech Support</a:t>
            </a:r>
            <a:r>
              <a:rPr lang="en-IN" sz="1700" dirty="0"/>
              <a:t> are more likely to leave the company.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u="sng" dirty="0"/>
              <a:t>One Line Conclusion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700" dirty="0"/>
              <a:t>Online Security, Tech Support, customer tenure, and senior citizen status are the strongest churn indicators in this dashboard.</a:t>
            </a:r>
            <a:endParaRPr sz="1700" b="1" u="sng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007" y="927098"/>
            <a:ext cx="8082455" cy="709865"/>
          </a:xfrm>
        </p:spPr>
        <p:txBody>
          <a:bodyPr/>
          <a:lstStyle/>
          <a:p>
            <a:pPr algn="ctr"/>
            <a:r>
              <a:rPr sz="2800" dirty="0">
                <a:latin typeface="Georgia" panose="02040502050405020303" pitchFamily="18" charset="0"/>
              </a:rPr>
              <a:t>Dashboard 3: Customer Value Segmentation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C7BF5D-5B04-7E20-C08D-6F35E0F32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007" y="2154621"/>
            <a:ext cx="80824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103" y="927098"/>
            <a:ext cx="7954297" cy="709865"/>
          </a:xfrm>
        </p:spPr>
        <p:txBody>
          <a:bodyPr/>
          <a:lstStyle/>
          <a:p>
            <a:pPr algn="ctr"/>
            <a:r>
              <a:rPr dirty="0">
                <a:latin typeface="Georgia" panose="02040502050405020303" pitchFamily="18" charset="0"/>
              </a:rPr>
              <a:t>Dashboard 3 </a:t>
            </a:r>
            <a:r>
              <a:rPr lang="en-IN" dirty="0">
                <a:latin typeface="Georgia" panose="02040502050405020303" pitchFamily="18" charset="0"/>
              </a:rPr>
              <a:t>: </a:t>
            </a:r>
            <a:r>
              <a:rPr dirty="0">
                <a:latin typeface="Georgia" panose="02040502050405020303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290" y="2291255"/>
            <a:ext cx="8476084" cy="437501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Total Revenue generated is </a:t>
            </a:r>
            <a:r>
              <a:rPr lang="en-IN" sz="1600" b="1" dirty="0"/>
              <a:t>₹16.06M</a:t>
            </a:r>
            <a:r>
              <a:rPr lang="en-IN" sz="1600" dirty="0"/>
              <a:t> from </a:t>
            </a:r>
            <a:r>
              <a:rPr lang="en-IN" sz="1600" b="1" dirty="0"/>
              <a:t>7,032 customers</a:t>
            </a:r>
            <a:r>
              <a:rPr lang="en-IN" sz="1600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Premium Value Customers</a:t>
            </a:r>
            <a:r>
              <a:rPr lang="en-IN" sz="1600" dirty="0"/>
              <a:t> contribute the highest revenue (</a:t>
            </a:r>
            <a:r>
              <a:rPr lang="en-IN" sz="1600" b="1" dirty="0"/>
              <a:t>₹10.1M</a:t>
            </a:r>
            <a:r>
              <a:rPr lang="en-IN" sz="1600" dirty="0"/>
              <a:t>), making them the most valuable segment.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Premium customers have the </a:t>
            </a:r>
            <a:r>
              <a:rPr lang="en-IN" sz="1600" b="1" dirty="0"/>
              <a:t>highest average tenure (61.29 months)</a:t>
            </a:r>
            <a:r>
              <a:rPr lang="en-IN" sz="1600" dirty="0"/>
              <a:t>, indicating strong loyalty.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Premium customers also pay the </a:t>
            </a:r>
            <a:r>
              <a:rPr lang="en-IN" sz="1600" b="1" dirty="0"/>
              <a:t>highest monthly charges (₹94 average)</a:t>
            </a:r>
            <a:r>
              <a:rPr lang="en-IN" sz="16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Low Value Customers</a:t>
            </a:r>
            <a:r>
              <a:rPr lang="en-IN" sz="1600" dirty="0"/>
              <a:t> generate the least revenue (</a:t>
            </a:r>
            <a:r>
              <a:rPr lang="en-IN" sz="1600" b="1" dirty="0"/>
              <a:t>₹0.3M</a:t>
            </a:r>
            <a:r>
              <a:rPr lang="en-IN" sz="1600" dirty="0"/>
              <a:t>) and have the shortest tenure (</a:t>
            </a:r>
            <a:r>
              <a:rPr lang="en-IN" sz="1600" b="1" dirty="0"/>
              <a:t>4.38 months</a:t>
            </a:r>
            <a:r>
              <a:rPr lang="en-IN" sz="1600" dirty="0"/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The </a:t>
            </a:r>
            <a:r>
              <a:rPr lang="en-IN" sz="1600" b="1" dirty="0"/>
              <a:t>Low Value Segment shows the highest churn count (764 customers)</a:t>
            </a:r>
            <a:r>
              <a:rPr lang="en-IN" sz="1600" dirty="0"/>
              <a:t>, indicating a retention challenge.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u="sng" dirty="0"/>
              <a:t>One Line Conclusion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Premium customers drive the majority of revenue and show the strongest loyalty, while Low Value customers represent the highest churn risk and retention opportunity.</a:t>
            </a:r>
            <a:endParaRPr lang="en-IN" b="1" u="sng" dirty="0"/>
          </a:p>
          <a:p>
            <a:pPr>
              <a:buFont typeface="Wingdings" panose="05000000000000000000" pitchFamily="2" charset="2"/>
              <a:buChar char="Ø"/>
            </a:pPr>
            <a:endParaRPr lang="en-IN" sz="1600" dirty="0"/>
          </a:p>
          <a:p>
            <a:pPr>
              <a:buFont typeface="Wingdings" panose="05000000000000000000" pitchFamily="2" charset="2"/>
              <a:buChar char="Ø"/>
            </a:pPr>
            <a:endParaRPr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7A65-90E2-1941-514E-7DBCFB114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927098"/>
            <a:ext cx="8200103" cy="709865"/>
          </a:xfrm>
        </p:spPr>
        <p:txBody>
          <a:bodyPr/>
          <a:lstStyle/>
          <a:p>
            <a:pPr algn="ctr"/>
            <a:r>
              <a:rPr lang="en-US" sz="2800" dirty="0"/>
              <a:t>Dashboard4: </a:t>
            </a:r>
            <a:r>
              <a:rPr lang="en-IN" sz="2800" dirty="0"/>
              <a:t>ML Model Performance &amp; Feature Importance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DFA939-D5BD-8839-F3ED-54F6CBDC4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445" y="2163763"/>
            <a:ext cx="8121445" cy="453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29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3AF3-968D-36EC-07DD-28FD4840F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5" y="927098"/>
            <a:ext cx="7816644" cy="709865"/>
          </a:xfrm>
        </p:spPr>
        <p:txBody>
          <a:bodyPr/>
          <a:lstStyle/>
          <a:p>
            <a:pPr algn="ctr"/>
            <a:r>
              <a:rPr lang="en-IN" dirty="0">
                <a:latin typeface="Georgia" panose="02040502050405020303" pitchFamily="18" charset="0"/>
              </a:rPr>
              <a:t>Dashboard 4 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313C8-F172-BB60-A9B6-E27060012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5" y="2489199"/>
            <a:ext cx="7816643" cy="42458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Random Forest + SMOTE</a:t>
            </a:r>
            <a:r>
              <a:rPr lang="en-IN" dirty="0"/>
              <a:t> was the best-performing model, achieving </a:t>
            </a:r>
            <a:r>
              <a:rPr lang="en-IN" b="1" dirty="0"/>
              <a:t>83.6% accuracy</a:t>
            </a:r>
            <a:r>
              <a:rPr lang="en-IN" dirty="0"/>
              <a:t>, </a:t>
            </a:r>
            <a:r>
              <a:rPr lang="en-IN" b="1" dirty="0"/>
              <a:t>85.6% recall</a:t>
            </a:r>
            <a:r>
              <a:rPr lang="en-IN" dirty="0"/>
              <a:t>, and </a:t>
            </a:r>
            <a:r>
              <a:rPr lang="en-IN" b="1" dirty="0"/>
              <a:t>68.0% F1-score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Applying </a:t>
            </a:r>
            <a:r>
              <a:rPr lang="en-IN" b="1" dirty="0"/>
              <a:t>SMOTE</a:t>
            </a:r>
            <a:r>
              <a:rPr lang="en-IN" dirty="0"/>
              <a:t> improved model performance by addressing class imbalance and enhancing churn prediction capability.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Monthly Charges, Tenure, and Total Charges</a:t>
            </a:r>
            <a:r>
              <a:rPr lang="en-IN" dirty="0"/>
              <a:t> were identified as the most influential factors driving customer churn.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Contract type</a:t>
            </a:r>
            <a:r>
              <a:rPr lang="en-IN" dirty="0"/>
              <a:t> significantly impacts retention, with customers on flexible contracts showing a higher likelihood of churn.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Service-related features such as </a:t>
            </a:r>
            <a:r>
              <a:rPr lang="en-IN" b="1" dirty="0"/>
              <a:t>Online Security</a:t>
            </a:r>
            <a:r>
              <a:rPr lang="en-IN" dirty="0"/>
              <a:t> and </a:t>
            </a:r>
            <a:r>
              <a:rPr lang="en-IN" b="1" dirty="0"/>
              <a:t>Tech Support</a:t>
            </a:r>
            <a:r>
              <a:rPr lang="en-IN" dirty="0"/>
              <a:t> also play an important role in customer retention.</a:t>
            </a:r>
          </a:p>
        </p:txBody>
      </p:sp>
    </p:spTree>
    <p:extLst>
      <p:ext uri="{BB962C8B-B14F-4D97-AF65-F5344CB8AC3E}">
        <p14:creationId xmlns:p14="http://schemas.microsoft.com/office/powerpoint/2010/main" val="2590887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2" y="927098"/>
            <a:ext cx="7924800" cy="709865"/>
          </a:xfrm>
        </p:spPr>
        <p:txBody>
          <a:bodyPr/>
          <a:lstStyle/>
          <a:p>
            <a:pPr algn="ctr"/>
            <a:r>
              <a:rPr sz="3600" dirty="0">
                <a:latin typeface="Georgia" panose="02040502050405020303" pitchFamily="18" charset="0"/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497" y="2207172"/>
            <a:ext cx="8156027" cy="381262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Encourage customers to switch from </a:t>
            </a:r>
            <a:r>
              <a:rPr lang="en-IN" b="1" dirty="0"/>
              <a:t>Month-to-Month contracts</a:t>
            </a:r>
            <a:r>
              <a:rPr lang="en-IN" dirty="0"/>
              <a:t> to </a:t>
            </a:r>
            <a:r>
              <a:rPr lang="en-IN" b="1" dirty="0"/>
              <a:t>One-Year or Two-Year plans</a:t>
            </a:r>
            <a:r>
              <a:rPr lang="en-IN" dirty="0"/>
              <a:t> through discounts and loyalty benefits.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Provide </a:t>
            </a:r>
            <a:r>
              <a:rPr lang="en-IN" b="1" dirty="0"/>
              <a:t>bundled Internet + Online Security + Tech Support packages</a:t>
            </a:r>
            <a:r>
              <a:rPr lang="en-IN" dirty="0"/>
              <a:t> to reduce churn risk.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Launch targeted </a:t>
            </a:r>
            <a:r>
              <a:rPr lang="en-IN" b="1" dirty="0"/>
              <a:t>retention campaigns for High-Risk Customers</a:t>
            </a:r>
            <a:r>
              <a:rPr lang="en-IN" dirty="0"/>
              <a:t> before contract renewal periods.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Focus on </a:t>
            </a:r>
            <a:r>
              <a:rPr lang="en-IN" b="1" dirty="0"/>
              <a:t>Low-Value and New Customers</a:t>
            </a:r>
            <a:r>
              <a:rPr lang="en-IN" dirty="0"/>
              <a:t> with personalized offers to increase engagement and lifetime value.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By focusing on contract retention, service bundling, customer segmentation, and proactive engagement, the company can significantly reduce churn and improve customer lifetime value.</a:t>
            </a:r>
            <a:endParaRPr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EB1A7-41C6-926F-0718-C034FA7D8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7" y="1074582"/>
            <a:ext cx="8042786" cy="832876"/>
          </a:xfrm>
        </p:spPr>
        <p:txBody>
          <a:bodyPr/>
          <a:lstStyle/>
          <a:p>
            <a:pPr algn="ctr"/>
            <a:r>
              <a:rPr lang="en-IN" dirty="0">
                <a:latin typeface="Georgia" panose="02040502050405020303" pitchFamily="18" charset="0"/>
              </a:rPr>
              <a:t>Docker Deployment of Customer Churn Prediction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88E51-735E-BC70-24B6-F4BA191D8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7" y="2261419"/>
            <a:ext cx="8042785" cy="434585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Objective: 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Containerize the FastAPI application using Docker.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Ensure consistent execution across different environments.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Simplify deployment and scalability.</a:t>
            </a:r>
          </a:p>
          <a:p>
            <a:pPr marL="402336" lvl="1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Technologies Used: 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Docker Desktop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Docker Engine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Docker Hub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FastAPI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Unicorn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Python 3.11</a:t>
            </a:r>
          </a:p>
          <a:p>
            <a:pPr marL="402336" lvl="1" indent="0">
              <a:buNone/>
            </a:pPr>
            <a:endParaRPr lang="en-IN" dirty="0"/>
          </a:p>
          <a:p>
            <a:pPr marL="402336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44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57EAB-0359-A518-5F4C-41A12A3E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1045085"/>
            <a:ext cx="8121443" cy="862373"/>
          </a:xfrm>
        </p:spPr>
        <p:txBody>
          <a:bodyPr/>
          <a:lstStyle/>
          <a:p>
            <a:pPr algn="ctr"/>
            <a:r>
              <a:rPr lang="en-IN" dirty="0">
                <a:latin typeface="Georgia" panose="02040502050405020303" pitchFamily="18" charset="0"/>
              </a:rPr>
              <a:t>Docker Deployment of Customer Churn Prediction 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B3F86-0341-BDBE-0ED5-08ABF655D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3" y="2340077"/>
            <a:ext cx="8121444" cy="417871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Deployment Workflow:</a:t>
            </a:r>
          </a:p>
          <a:p>
            <a:pPr marL="0" indent="0" algn="ctr">
              <a:buNone/>
            </a:pPr>
            <a:r>
              <a:rPr lang="en-IN" dirty="0"/>
              <a:t>FastAPI Application</a:t>
            </a:r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lang="en-IN" dirty="0"/>
              <a:t>Docker file</a:t>
            </a:r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lang="en-IN" dirty="0"/>
              <a:t> Docker Image Build</a:t>
            </a:r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lang="en-IN" dirty="0"/>
              <a:t> Docker Container</a:t>
            </a:r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lang="en-IN" dirty="0"/>
              <a:t> API Running on Port 8000</a:t>
            </a:r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lang="en-IN" dirty="0"/>
              <a:t> Docker Hub Repository</a:t>
            </a:r>
          </a:p>
        </p:txBody>
      </p:sp>
    </p:spTree>
    <p:extLst>
      <p:ext uri="{BB962C8B-B14F-4D97-AF65-F5344CB8AC3E}">
        <p14:creationId xmlns:p14="http://schemas.microsoft.com/office/powerpoint/2010/main" val="4261158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8E014-A858-8023-9F86-F1C3D71E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69" y="959461"/>
            <a:ext cx="7570107" cy="709865"/>
          </a:xfrm>
        </p:spPr>
        <p:txBody>
          <a:bodyPr/>
          <a:lstStyle/>
          <a:p>
            <a:pPr algn="ctr"/>
            <a:r>
              <a:rPr lang="en-IN" sz="3600" dirty="0">
                <a:latin typeface="Georgia" panose="02040502050405020303" pitchFamily="18" charset="0"/>
              </a:rPr>
              <a:t>Docker Containerization Process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48DDDFD-3B6C-5B9C-2E43-311A6E91C3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410676"/>
              </p:ext>
            </p:extLst>
          </p:nvPr>
        </p:nvGraphicFramePr>
        <p:xfrm>
          <a:off x="560439" y="2661420"/>
          <a:ext cx="7875638" cy="3650888"/>
        </p:xfrm>
        <a:graphic>
          <a:graphicData uri="http://schemas.openxmlformats.org/drawingml/2006/table">
            <a:tbl>
              <a:tblPr/>
              <a:tblGrid>
                <a:gridCol w="3937819">
                  <a:extLst>
                    <a:ext uri="{9D8B030D-6E8A-4147-A177-3AD203B41FA5}">
                      <a16:colId xmlns:a16="http://schemas.microsoft.com/office/drawing/2014/main" val="281140634"/>
                    </a:ext>
                  </a:extLst>
                </a:gridCol>
                <a:gridCol w="3937819">
                  <a:extLst>
                    <a:ext uri="{9D8B030D-6E8A-4147-A177-3AD203B41FA5}">
                      <a16:colId xmlns:a16="http://schemas.microsoft.com/office/drawing/2014/main" val="932995360"/>
                    </a:ext>
                  </a:extLst>
                </a:gridCol>
              </a:tblGrid>
              <a:tr h="45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190008"/>
                  </a:ext>
                </a:extLst>
              </a:tr>
              <a:tr h="45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Created Dockerfile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673612"/>
                  </a:ext>
                </a:extLst>
              </a:tr>
              <a:tr h="45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Created requirements.txt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013064"/>
                  </a:ext>
                </a:extLst>
              </a:tr>
              <a:tr h="45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Built Docker 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514401"/>
                  </a:ext>
                </a:extLst>
              </a:tr>
              <a:tr h="45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 Docker Container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616494"/>
                  </a:ext>
                </a:extLst>
              </a:tr>
              <a:tr h="45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Tested FastAPI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695608"/>
                  </a:ext>
                </a:extLst>
              </a:tr>
              <a:tr h="45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Verified Swagger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131093"/>
                  </a:ext>
                </a:extLst>
              </a:tr>
              <a:tr h="45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Pushed Image to Docker 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474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926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357B8-ADC1-F9CB-B776-A17212D70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5" y="927098"/>
            <a:ext cx="7629833" cy="980360"/>
          </a:xfrm>
        </p:spPr>
        <p:txBody>
          <a:bodyPr/>
          <a:lstStyle/>
          <a:p>
            <a:pPr algn="ctr"/>
            <a:r>
              <a:rPr lang="en-IN" sz="4000" dirty="0">
                <a:latin typeface="Georgia" panose="02040502050405020303" pitchFamily="18" charset="0"/>
              </a:rPr>
              <a:t>Docker Desktop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ADB983-C0CE-B4D8-0822-A8D2F06634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387" y="2369209"/>
            <a:ext cx="8023225" cy="400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42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EBD6-79D9-18F6-E605-01BB262C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770" y="929964"/>
            <a:ext cx="6343672" cy="709865"/>
          </a:xfrm>
        </p:spPr>
        <p:txBody>
          <a:bodyPr/>
          <a:lstStyle/>
          <a:p>
            <a:pPr algn="ctr"/>
            <a:r>
              <a:rPr lang="en-IN" sz="4000" dirty="0">
                <a:latin typeface="Georgia" panose="02040502050405020303" pitchFamily="18" charset="0"/>
              </a:rPr>
              <a:t>Docker Hub Desktop</a:t>
            </a:r>
            <a:endParaRPr lang="en-IN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F29DED-D2CF-14C9-BD18-56E54017E2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963" y="2536723"/>
            <a:ext cx="8170862" cy="315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36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3" y="927098"/>
            <a:ext cx="7895302" cy="709865"/>
          </a:xfrm>
        </p:spPr>
        <p:txBody>
          <a:bodyPr/>
          <a:lstStyle/>
          <a:p>
            <a:pPr algn="ctr"/>
            <a:r>
              <a:rPr sz="3600" dirty="0">
                <a:latin typeface="Georgia" panose="02040502050405020303" pitchFamily="18" charset="0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517" y="2564524"/>
            <a:ext cx="8061435" cy="345790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Power BI</a:t>
            </a:r>
            <a:r>
              <a:rPr lang="en-IN" sz="1600" dirty="0"/>
              <a:t> – Interactive Dashboard Development &amp; Reporting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Power Query</a:t>
            </a:r>
            <a:r>
              <a:rPr lang="en-IN" sz="1600" dirty="0"/>
              <a:t> – Data Cleaning, Transformation &amp; Preparation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DAX (Data Analysis Expressions)</a:t>
            </a:r>
            <a:r>
              <a:rPr lang="en-IN" sz="1600" dirty="0"/>
              <a:t> – KPI Measures, Calculations &amp; Business Metrics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Microsoft Excel / CSV Dataset</a:t>
            </a:r>
            <a:r>
              <a:rPr lang="en-IN" sz="1600" dirty="0"/>
              <a:t> – Data Source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Python (Pandas)</a:t>
            </a:r>
            <a:r>
              <a:rPr lang="en-IN" sz="1600" dirty="0"/>
              <a:t> – Data Processing &amp; Feature Engineering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FastAPI</a:t>
            </a:r>
            <a:r>
              <a:rPr lang="en-IN" sz="1600" dirty="0"/>
              <a:t> – API Development &amp; Data Integration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SQL</a:t>
            </a:r>
            <a:r>
              <a:rPr lang="en-IN" sz="1600" dirty="0"/>
              <a:t> – Data Querying &amp;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GitHub</a:t>
            </a:r>
            <a:r>
              <a:rPr lang="en-IN" sz="1600" dirty="0"/>
              <a:t> – Version Control &amp; Project Documentation</a:t>
            </a:r>
          </a:p>
          <a:p>
            <a:pPr>
              <a:buFont typeface="Wingdings" panose="05000000000000000000" pitchFamily="2" charset="2"/>
              <a:buChar char="Ø"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2" y="927098"/>
            <a:ext cx="7925478" cy="709865"/>
          </a:xfrm>
        </p:spPr>
        <p:txBody>
          <a:bodyPr/>
          <a:lstStyle/>
          <a:p>
            <a:pPr algn="ctr"/>
            <a:r>
              <a:rPr sz="4000" dirty="0">
                <a:latin typeface="Georgia" panose="02040502050405020303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945" y="2249215"/>
            <a:ext cx="8092965" cy="38362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Analyzed </a:t>
            </a:r>
            <a:r>
              <a:rPr lang="en-IN" sz="1600" b="1" dirty="0"/>
              <a:t>7,032 customer records</a:t>
            </a:r>
            <a:r>
              <a:rPr lang="en-IN" sz="1600" dirty="0"/>
              <a:t> to identify churn patterns and customer behaviour.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Discovered key churn drivers including </a:t>
            </a:r>
            <a:r>
              <a:rPr lang="en-IN" sz="1600" b="1" dirty="0"/>
              <a:t>month-to-month contracts, lack of security/support services, and high-risk customer segments</a:t>
            </a:r>
            <a:r>
              <a:rPr lang="en-IN" sz="16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Built </a:t>
            </a:r>
            <a:r>
              <a:rPr lang="en-IN" sz="1600" b="1" dirty="0"/>
              <a:t>three interactive Power BI dashboards</a:t>
            </a:r>
            <a:r>
              <a:rPr lang="en-IN" sz="1600" dirty="0"/>
              <a:t> to monitor KPIs, customer insights, and value segmentation.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Provided </a:t>
            </a:r>
            <a:r>
              <a:rPr lang="en-IN" sz="1600" b="1" dirty="0"/>
              <a:t>data-driven recommendations</a:t>
            </a:r>
            <a:r>
              <a:rPr lang="en-IN" sz="1600" dirty="0"/>
              <a:t> to improve customer retention, increase revenue, and support business decision-making.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u="sng" dirty="0"/>
              <a:t>Closing Statement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The project successfully transformed customer data into actionable business insights, enabling better retention strategies and long-term customer value growth.</a:t>
            </a:r>
            <a:endParaRPr lang="en-IN" b="1" u="sng" dirty="0"/>
          </a:p>
          <a:p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020F8A-C0E1-B99F-88A3-3430C117E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3160" y="1740319"/>
            <a:ext cx="5917679" cy="861420"/>
          </a:xfrm>
        </p:spPr>
        <p:txBody>
          <a:bodyPr/>
          <a:lstStyle/>
          <a:p>
            <a:pPr algn="ctr"/>
            <a:r>
              <a:rPr lang="en-IN" sz="6600" b="1" dirty="0">
                <a:latin typeface="Georgia" panose="02040502050405020303" pitchFamily="18" charset="0"/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B9A7D58-185E-174A-0156-C56174F79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454" y="3247482"/>
            <a:ext cx="8219089" cy="1776463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IN" sz="2800" b="1" i="1" u="sng" dirty="0">
                <a:solidFill>
                  <a:schemeClr val="bg2"/>
                </a:solidFill>
                <a:latin typeface="Georgia" panose="02040502050405020303" pitchFamily="18" charset="0"/>
              </a:rPr>
              <a:t>Afzal Rangrej</a:t>
            </a:r>
          </a:p>
          <a:p>
            <a:pPr algn="ctr"/>
            <a:r>
              <a:rPr lang="en-IN" sz="2800" b="1" i="1" u="sng" dirty="0">
                <a:solidFill>
                  <a:schemeClr val="bg2"/>
                </a:solidFill>
                <a:latin typeface="Georgia" panose="02040502050405020303" pitchFamily="18" charset="0"/>
              </a:rPr>
              <a:t>&amp; Team</a:t>
            </a:r>
          </a:p>
          <a:p>
            <a:pPr algn="ctr"/>
            <a:br>
              <a:rPr lang="en-IN" sz="2800" b="1" dirty="0">
                <a:solidFill>
                  <a:schemeClr val="bg2"/>
                </a:solidFill>
                <a:latin typeface="Georgia" panose="02040502050405020303" pitchFamily="18" charset="0"/>
              </a:rPr>
            </a:br>
            <a:r>
              <a:rPr lang="en-IN" sz="2800" b="1" dirty="0">
                <a:solidFill>
                  <a:schemeClr val="bg2"/>
                </a:solidFill>
                <a:latin typeface="Georgia" panose="02040502050405020303" pitchFamily="18" charset="0"/>
              </a:rPr>
              <a:t>Data Analyst Intern</a:t>
            </a:r>
            <a:br>
              <a:rPr lang="en-IN" sz="2800" b="1" dirty="0">
                <a:solidFill>
                  <a:schemeClr val="bg2"/>
                </a:solidFill>
                <a:latin typeface="Georgia" panose="02040502050405020303" pitchFamily="18" charset="0"/>
              </a:rPr>
            </a:br>
            <a:r>
              <a:rPr lang="en-IN" sz="2800" b="1" dirty="0">
                <a:solidFill>
                  <a:schemeClr val="bg2"/>
                </a:solidFill>
                <a:latin typeface="Georgia" panose="02040502050405020303" pitchFamily="18" charset="0"/>
              </a:rPr>
              <a:t>Customer Churn Analysis Project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83550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142</TotalTime>
  <Words>1064</Words>
  <Application>Microsoft Office PowerPoint</Application>
  <PresentationFormat>On-screen Show (4:3)</PresentationFormat>
  <Paragraphs>158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Century Gothic</vt:lpstr>
      <vt:lpstr>Georgia</vt:lpstr>
      <vt:lpstr>Wingdings</vt:lpstr>
      <vt:lpstr>Wingdings 3</vt:lpstr>
      <vt:lpstr>Ion Boardroom</vt:lpstr>
      <vt:lpstr>Customer Churn Analysis</vt:lpstr>
      <vt:lpstr>Project Overview</vt:lpstr>
      <vt:lpstr>Problem Statement</vt:lpstr>
      <vt:lpstr>Project Objectives</vt:lpstr>
      <vt:lpstr>Dataset Overview</vt:lpstr>
      <vt:lpstr>Methodology</vt:lpstr>
      <vt:lpstr>Dashboard 1: Executive Summary</vt:lpstr>
      <vt:lpstr>Dashboard 1 : Key Insights</vt:lpstr>
      <vt:lpstr>Dashboard 2: Customer Insights</vt:lpstr>
      <vt:lpstr>Dashboard 2 : Key Insights</vt:lpstr>
      <vt:lpstr>Dashboard 3: Customer Value Segmentation</vt:lpstr>
      <vt:lpstr>Dashboard 3 : Key Insights</vt:lpstr>
      <vt:lpstr>Dashboard4: ML Model Performance &amp; Feature Importance</vt:lpstr>
      <vt:lpstr>Dashboard 4 Key Insights</vt:lpstr>
      <vt:lpstr>Business Recommendations</vt:lpstr>
      <vt:lpstr>Docker Deployment of Customer Churn Prediction API</vt:lpstr>
      <vt:lpstr>Docker Deployment of Customer Churn Prediction API</vt:lpstr>
      <vt:lpstr>Docker Containerization Process</vt:lpstr>
      <vt:lpstr>Docker Desktop</vt:lpstr>
      <vt:lpstr>Docker Hub Desktop</vt:lpstr>
      <vt:lpstr>Tools &amp; Technologies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afzal rangrej</cp:lastModifiedBy>
  <cp:revision>28</cp:revision>
  <dcterms:created xsi:type="dcterms:W3CDTF">2013-01-27T09:14:16Z</dcterms:created>
  <dcterms:modified xsi:type="dcterms:W3CDTF">2026-06-19T14:17:21Z</dcterms:modified>
  <cp:category/>
</cp:coreProperties>
</file>