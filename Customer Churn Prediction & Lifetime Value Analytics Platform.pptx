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0" r:id="rId17"/>
    <p:sldId id="271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82" d="100"/>
          <a:sy n="82" d="100"/>
        </p:scale>
        <p:origin x="-1474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20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Oval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Oval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9" name="Flowchart: Process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Flowchart: Process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e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479B210A-7F51-4F67-9E37-B15D5C292BB4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90277E66-5BFE-4FB0-85BE-2682E214C7E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7827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US" dirty="0" smtClean="0"/>
              <a:t>Customer Churn Prediction &amp; Lifetime Value Analytics Platform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435608" y="2133600"/>
            <a:ext cx="7498080" cy="41148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/>
          <a:lstStyle/>
          <a:p>
            <a:pPr algn="ctr">
              <a:buNone/>
            </a:pPr>
            <a:r>
              <a:rPr lang="en-US" b="1" dirty="0" smtClean="0"/>
              <a:t>Data Analyst Capstone Project</a:t>
            </a:r>
          </a:p>
          <a:p>
            <a:pPr algn="ctr">
              <a:buNone/>
            </a:pPr>
            <a:r>
              <a:rPr lang="en-US" dirty="0" smtClean="0"/>
              <a:t> </a:t>
            </a: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Tools Used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Python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SQL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Power BI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Machine Learning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FastAPI</a:t>
            </a:r>
            <a:endParaRPr lang="en-US" sz="2400" dirty="0" smtClean="0">
              <a:solidFill>
                <a:schemeClr val="accent6">
                  <a:lumMod val="50000"/>
                </a:schemeClr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4017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/>
              <a:t>Business Problem Statement</a:t>
            </a:r>
            <a:endParaRPr lang="en-US" sz="44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752600"/>
            <a:ext cx="7498080" cy="44958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endParaRPr lang="en-US" dirty="0" smtClean="0"/>
          </a:p>
          <a:p>
            <a:pPr>
              <a:buFont typeface="Wingdings" pitchFamily="2" charset="2"/>
              <a:buChar char="q"/>
            </a:pPr>
            <a:r>
              <a:rPr lang="en-US" sz="36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Customer churn causing revenue loss Company </a:t>
            </a:r>
          </a:p>
          <a:p>
            <a:pPr>
              <a:buFont typeface="Wingdings" pitchFamily="2" charset="2"/>
              <a:buChar char="q"/>
            </a:pPr>
            <a:r>
              <a:rPr lang="en-US" sz="36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Unable to identify churn-risk customers </a:t>
            </a:r>
          </a:p>
          <a:p>
            <a:pPr>
              <a:buFont typeface="Wingdings" pitchFamily="2" charset="2"/>
              <a:buChar char="q"/>
            </a:pPr>
            <a:r>
              <a:rPr lang="en-US" sz="36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No customer value prioritization </a:t>
            </a:r>
          </a:p>
          <a:p>
            <a:pPr>
              <a:buFont typeface="Wingdings" pitchFamily="2" charset="2"/>
              <a:buChar char="q"/>
            </a:pPr>
            <a:r>
              <a:rPr lang="en-US" sz="36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Need data-driven retention strategy</a:t>
            </a:r>
            <a:endParaRPr lang="en-US" sz="3600" b="1" dirty="0" smtClean="0">
              <a:solidFill>
                <a:schemeClr val="accent6">
                  <a:lumMod val="50000"/>
                </a:schemeClr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4017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/>
              <a:t>Project Objectives</a:t>
            </a:r>
            <a:endParaRPr lang="en-US" sz="44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752600"/>
            <a:ext cx="7498080" cy="44958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endParaRPr lang="en-US" dirty="0" smtClean="0"/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Predict customer churn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Identify churn drivers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Calculate Customer Lifetime Value (LTV)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Create Business Intelligence dashboards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Build API for prediction service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Support business decision making</a:t>
            </a: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731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/>
              <a:t>Dataset Overview</a:t>
            </a:r>
            <a:endParaRPr lang="en-US" sz="44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524000"/>
            <a:ext cx="7498080" cy="47244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fontScale="77500" lnSpcReduction="20000"/>
          </a:bodyPr>
          <a:lstStyle/>
          <a:p>
            <a:pPr algn="ctr">
              <a:buNone/>
            </a:pPr>
            <a:r>
              <a:rPr lang="en-US" sz="2400" b="1" u="sng" dirty="0" smtClean="0"/>
              <a:t>Dataset:- Telco Customer Churn Dataset</a:t>
            </a:r>
          </a:p>
          <a:p>
            <a:pPr>
              <a:buNone/>
            </a:pPr>
            <a:endParaRPr lang="en-US" sz="2400" b="1" dirty="0" smtClean="0"/>
          </a:p>
          <a:p>
            <a:pPr>
              <a:buNone/>
            </a:pPr>
            <a:r>
              <a:rPr lang="en-US" sz="2400" b="1" dirty="0" smtClean="0"/>
              <a:t>Key Facts:-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Total Records = 7043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Final Records = 7032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Target Variable = Churn </a:t>
            </a:r>
          </a:p>
          <a:p>
            <a:pPr>
              <a:buNone/>
            </a:pPr>
            <a:endParaRPr lang="en-US" sz="2400" b="1" dirty="0" smtClean="0"/>
          </a:p>
          <a:p>
            <a:pPr>
              <a:buNone/>
            </a:pPr>
            <a:r>
              <a:rPr lang="en-US" sz="2400" b="1" dirty="0" smtClean="0"/>
              <a:t>Important Columns:-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tenure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contract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internet_service</a:t>
            </a: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payment_method</a:t>
            </a: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monthly_charges</a:t>
            </a: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total_charges</a:t>
            </a: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churn</a:t>
            </a:r>
          </a:p>
          <a:p>
            <a:pPr>
              <a:buNone/>
            </a:pPr>
            <a:endParaRPr lang="en-US" sz="2400" b="1" u="sng" dirty="0" smtClean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3900" dirty="0" smtClean="0"/>
              <a:t>Data Cleaning &amp; Preprocessing</a:t>
            </a:r>
            <a:endParaRPr lang="en-US" sz="39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lnSpcReduction="10000"/>
          </a:bodyPr>
          <a:lstStyle/>
          <a:p>
            <a:pPr>
              <a:buNone/>
            </a:pPr>
            <a:endParaRPr lang="en-US" dirty="0" smtClean="0"/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Missing value handling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TotalCharges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datatype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correction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Removed 11 invalid records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Duplicate check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Data validation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en-US" sz="2800" b="1" dirty="0" smtClean="0"/>
              <a:t>Final Shape:-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7032 × 21</a:t>
            </a: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3900" dirty="0" smtClean="0"/>
              <a:t>Exploratory Data Analysis (EDA)</a:t>
            </a:r>
            <a:endParaRPr lang="en-US" sz="39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en-US" b="1" dirty="0" smtClean="0"/>
              <a:t>Key Findings:-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Churn Rate = 26.58%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Month-to-month customers churn highest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Fiber optic customers churn higher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Electronic check customers churn highest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Low tenure customers more likely to churn</a:t>
            </a: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/>
              <a:t>Feature Engineering</a:t>
            </a:r>
            <a:endParaRPr lang="en-US" sz="44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b="1" dirty="0" smtClean="0"/>
              <a:t>Created Features:-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Churn_Flag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Tenure_Group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Monthly_Charge_Group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Customer_Value_Segment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High_Risk_Flag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endParaRPr lang="en-US" dirty="0" smtClean="0"/>
          </a:p>
          <a:p>
            <a:pPr>
              <a:buNone/>
            </a:pPr>
            <a:r>
              <a:rPr lang="en-US" b="1" dirty="0" smtClean="0"/>
              <a:t>Business Benefit:-</a:t>
            </a:r>
          </a:p>
          <a:p>
            <a:pPr>
              <a:buFont typeface="Wingdings" pitchFamily="2" charset="2"/>
              <a:buChar char="q"/>
            </a:pP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  <a:latin typeface="Times New Roman" pitchFamily="18" charset="0"/>
                <a:ea typeface="Calibri" pitchFamily="34" charset="0"/>
                <a:cs typeface="Times New Roman" pitchFamily="18" charset="0"/>
              </a:rPr>
              <a:t>Improved model understanding and customer segmentation</a:t>
            </a:r>
          </a:p>
          <a:p>
            <a:endParaRPr lang="en-US" b="1" dirty="0" smtClean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4017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>
                <a:solidFill>
                  <a:schemeClr val="bg1"/>
                </a:solidFill>
              </a:rPr>
              <a:t>Machine Learning Modeling</a:t>
            </a:r>
            <a:endParaRPr lang="en-US" sz="4400" dirty="0" smtClean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752600"/>
            <a:ext cx="7498080" cy="44958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endParaRPr lang="en-US" sz="2800" b="1" dirty="0" smtClean="0"/>
          </a:p>
          <a:p>
            <a:pPr>
              <a:buNone/>
            </a:pPr>
            <a:r>
              <a:rPr lang="en-US" sz="2800" b="1" dirty="0" smtClean="0"/>
              <a:t>Models Developed:-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Logistic Regression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Logistic Regression + SMOTE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Random Forest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Random Forest + SMOTE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XGBoost</a:t>
            </a: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XGBoost</a:t>
            </a: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+ SMOTE</a:t>
            </a:r>
          </a:p>
          <a:p>
            <a:pPr>
              <a:lnSpc>
                <a:spcPct val="80000"/>
              </a:lnSpc>
            </a:pPr>
            <a:endParaRPr lang="en-US" sz="3000" b="1" dirty="0" smtClean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39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Model Performance Comparison</a:t>
            </a:r>
          </a:p>
        </p:txBody>
      </p:sp>
      <p:pic>
        <p:nvPicPr>
          <p:cNvPr id="4" name="Content Placeholder 3" descr="Screenshot 2026-06-08 120248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5100" y="1676400"/>
            <a:ext cx="7499350" cy="4572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/>
              <a:t>Best Model Selection</a:t>
            </a:r>
            <a:endParaRPr lang="en-US" sz="44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 smtClean="0"/>
              <a:t>Selected Model:-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Random Forest + SMOTE</a:t>
            </a:r>
          </a:p>
          <a:p>
            <a:pPr>
              <a:buNone/>
            </a:pPr>
            <a:endParaRPr lang="en-US" b="1" dirty="0" smtClean="0"/>
          </a:p>
          <a:p>
            <a:pPr>
              <a:buNone/>
            </a:pPr>
            <a:r>
              <a:rPr lang="en-US" b="1" dirty="0" smtClean="0"/>
              <a:t>Performance:-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Accuracy = 83.6%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Precision = 82.2%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Recall = 85.6%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F1 Score = 83.9%</a:t>
            </a:r>
          </a:p>
          <a:p>
            <a:endParaRPr lang="en-US" b="1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4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Top Churn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endParaRPr lang="en-US" b="1" dirty="0" smtClean="0"/>
          </a:p>
          <a:p>
            <a:pPr>
              <a:buNone/>
            </a:pPr>
            <a:r>
              <a:rPr lang="en-US" b="1" dirty="0" smtClean="0"/>
              <a:t>Top Features:-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MonthlyCharges</a:t>
            </a: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tenure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TotalCharges</a:t>
            </a: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Contract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err="1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OnlineSecurity</a:t>
            </a:r>
            <a:endParaRPr lang="en-US" sz="2800" dirty="0" smtClean="0">
              <a:solidFill>
                <a:schemeClr val="accent6">
                  <a:lumMod val="50000"/>
                </a:schemeClr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Autofit/>
          </a:bodyPr>
          <a:lstStyle/>
          <a:p>
            <a:pPr algn="ctr"/>
            <a:r>
              <a:rPr lang="en-US" sz="4000" dirty="0" smtClean="0"/>
              <a:t>Customer Lifetime Value Analysis</a:t>
            </a:r>
            <a:endParaRPr lang="en-US" sz="40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b="1" i="1" dirty="0" smtClean="0"/>
              <a:t>Formula:-</a:t>
            </a:r>
          </a:p>
          <a:p>
            <a:pPr>
              <a:buFont typeface="Wingdings" pitchFamily="2" charset="2"/>
              <a:buChar char="q"/>
            </a:pP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</a:rPr>
              <a:t>LTV = </a:t>
            </a:r>
            <a:r>
              <a:rPr lang="en-US" b="1" i="1" dirty="0" err="1" smtClean="0">
                <a:solidFill>
                  <a:schemeClr val="accent6">
                    <a:lumMod val="50000"/>
                  </a:schemeClr>
                </a:solidFill>
              </a:rPr>
              <a:t>MonthlyCharges</a:t>
            </a: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</a:rPr>
              <a:t> × Tenure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en-US" b="1" dirty="0" smtClean="0"/>
              <a:t>Segments:-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Low Value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Medium Value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High Value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Premium Value 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en-US" b="1" i="1" dirty="0" smtClean="0"/>
              <a:t>Key Finding:-</a:t>
            </a:r>
          </a:p>
          <a:p>
            <a:pPr>
              <a:buFont typeface="Wingdings" pitchFamily="2" charset="2"/>
              <a:buChar char="q"/>
            </a:pP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</a:rPr>
              <a:t>Premium customers generate maximum revenue.</a:t>
            </a: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Autofit/>
          </a:bodyPr>
          <a:lstStyle/>
          <a:p>
            <a:pPr algn="ctr"/>
            <a:r>
              <a:rPr lang="en-US" sz="40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Business Intelligence Dashboards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4 dashboard:-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Executive Overview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Churn Intelligence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LTV &amp; Revenue </a:t>
            </a:r>
          </a:p>
          <a:p>
            <a:pPr>
              <a:buFont typeface="Wingdings" pitchFamily="2" charset="2"/>
              <a:buChar char="q"/>
            </a:pPr>
            <a:r>
              <a:rPr lang="en-US" sz="28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ML Performance </a:t>
            </a:r>
            <a:endParaRPr lang="en-US" sz="2800" dirty="0" smtClean="0"/>
          </a:p>
          <a:p>
            <a:pPr>
              <a:buNone/>
            </a:pPr>
            <a:endParaRPr lang="en-US" b="1" dirty="0" smtClean="0"/>
          </a:p>
          <a:p>
            <a:pPr>
              <a:buNone/>
            </a:pP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Key Benefit:-</a:t>
            </a:r>
          </a:p>
          <a:p>
            <a:pPr>
              <a:buFont typeface="Wingdings" pitchFamily="2" charset="2"/>
              <a:buChar char="q"/>
            </a:pPr>
            <a:r>
              <a:rPr lang="en-US" sz="2800" b="1" i="1" dirty="0" smtClean="0">
                <a:solidFill>
                  <a:schemeClr val="accent6">
                    <a:lumMod val="50000"/>
                  </a:schemeClr>
                </a:solidFill>
              </a:rPr>
              <a:t>Business-friendly decision support.</a:t>
            </a: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3255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4000" dirty="0" smtClean="0"/>
              <a:t>API Development &amp; SQL Validation</a:t>
            </a:r>
            <a:endParaRPr lang="en-US" sz="40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76400"/>
            <a:ext cx="7498080" cy="4572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b="1" dirty="0" smtClean="0"/>
              <a:t>API:-</a:t>
            </a:r>
          </a:p>
          <a:p>
            <a:pPr>
              <a:buFont typeface="Wingdings" pitchFamily="2" charset="2"/>
              <a:buChar char="q"/>
            </a:pPr>
            <a:r>
              <a:rPr lang="en-US" dirty="0" err="1" smtClean="0">
                <a:solidFill>
                  <a:schemeClr val="accent6">
                    <a:lumMod val="50000"/>
                  </a:schemeClr>
                </a:solidFill>
              </a:rPr>
              <a:t>FastAPI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Swagger UI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Churn Prediction Endpoint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LTV Estimation Endpoint 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en-US" b="1" dirty="0" smtClean="0"/>
              <a:t>SQL:-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Churn validation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Revenue validation </a:t>
            </a:r>
          </a:p>
          <a:p>
            <a:pPr>
              <a:buFont typeface="Wingdings" pitchFamily="2" charset="2"/>
              <a:buChar char="q"/>
            </a:pP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LTV validation 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r>
              <a:rPr lang="en-US" b="1" dirty="0" smtClean="0"/>
              <a:t>Key Result:-</a:t>
            </a:r>
          </a:p>
          <a:p>
            <a:pPr>
              <a:buFont typeface="Wingdings" pitchFamily="2" charset="2"/>
              <a:buChar char="q"/>
            </a:pP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</a:rPr>
              <a:t>Python + SQL + Power BI outputs fully aligned.</a:t>
            </a:r>
          </a:p>
          <a:p>
            <a:pPr>
              <a:buNone/>
            </a:pPr>
            <a:endParaRPr lang="en-US" b="1" dirty="0" smtClean="0"/>
          </a:p>
        </p:txBody>
      </p:sp>
      <p:pic>
        <p:nvPicPr>
          <p:cNvPr id="4" name="Picture 3" descr="01_API_Respons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410200" y="1676400"/>
            <a:ext cx="3421402" cy="1371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</p:pic>
      <p:pic>
        <p:nvPicPr>
          <p:cNvPr id="5" name="Picture 4" descr="02_Swagger_Hom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410200" y="3048000"/>
            <a:ext cx="3429000" cy="139358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</p:pic>
      <p:pic>
        <p:nvPicPr>
          <p:cNvPr id="6" name="Picture 5" descr="03_predict_endpoint_Response-1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410201" y="4343400"/>
            <a:ext cx="3429000" cy="14478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 fontScale="90000"/>
          </a:bodyPr>
          <a:lstStyle/>
          <a:p>
            <a:pPr algn="ctr"/>
            <a:r>
              <a:rPr lang="en-US" sz="39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API DEPLOYMENT WITH DOCKER</a:t>
            </a:r>
          </a:p>
        </p:txBody>
      </p:sp>
      <p:pic>
        <p:nvPicPr>
          <p:cNvPr id="4" name="Content Placeholder 3" descr="05_Docker_Deployment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7800" y="1447800"/>
            <a:ext cx="7467600" cy="15240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</p:pic>
      <p:pic>
        <p:nvPicPr>
          <p:cNvPr id="5" name="Picture 4" descr="06_DockerHub_Image_Pus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2971801"/>
            <a:ext cx="7467600" cy="15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</p:pic>
      <p:pic>
        <p:nvPicPr>
          <p:cNvPr id="6" name="Picture 5" descr="07_DockerHub_Reposi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4509888"/>
            <a:ext cx="7467600" cy="219157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249362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3900" dirty="0" smtClean="0"/>
              <a:t>Business Impact &amp; Conclusion</a:t>
            </a:r>
            <a:endParaRPr lang="en-US" sz="3900" dirty="0" smtClean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608" y="1600200"/>
            <a:ext cx="7498080" cy="4648200"/>
          </a:xfr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b="1" dirty="0" smtClean="0"/>
              <a:t>Impact:-</a:t>
            </a:r>
          </a:p>
          <a:p>
            <a:pPr>
              <a:buFont typeface="Wingdings" pitchFamily="2" charset="2"/>
              <a:buChar char="q"/>
            </a:pPr>
            <a:r>
              <a:rPr lang="en-US" sz="40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Identify churn-risk customers</a:t>
            </a:r>
          </a:p>
          <a:p>
            <a:pPr>
              <a:buFont typeface="Wingdings" pitchFamily="2" charset="2"/>
              <a:buChar char="q"/>
            </a:pPr>
            <a:r>
              <a:rPr lang="en-US" sz="40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Protect premium customers</a:t>
            </a:r>
          </a:p>
          <a:p>
            <a:pPr>
              <a:buFont typeface="Wingdings" pitchFamily="2" charset="2"/>
              <a:buChar char="q"/>
            </a:pPr>
            <a:r>
              <a:rPr lang="en-US" sz="40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Improve retention strategy</a:t>
            </a:r>
          </a:p>
          <a:p>
            <a:pPr>
              <a:buFont typeface="Wingdings" pitchFamily="2" charset="2"/>
              <a:buChar char="q"/>
            </a:pPr>
            <a:r>
              <a:rPr lang="en-US" sz="40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Reduce revenue loss</a:t>
            </a:r>
          </a:p>
          <a:p>
            <a:pPr>
              <a:buFont typeface="Wingdings" pitchFamily="2" charset="2"/>
              <a:buChar char="q"/>
            </a:pPr>
            <a:r>
              <a:rPr lang="en-US" sz="4000" dirty="0" smtClean="0">
                <a:solidFill>
                  <a:schemeClr val="accent6">
                    <a:lumMod val="50000"/>
                  </a:schemeClr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Support data-driven decisions</a:t>
            </a:r>
          </a:p>
          <a:p>
            <a:pPr>
              <a:buNone/>
            </a:pPr>
            <a:endParaRPr lang="en-US" dirty="0" smtClean="0">
              <a:solidFill>
                <a:schemeClr val="accent6">
                  <a:lumMod val="50000"/>
                </a:schemeClr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>
              <a:buNone/>
            </a:pPr>
            <a:r>
              <a:rPr lang="en-US" b="1" dirty="0" smtClean="0"/>
              <a:t>Final Conclusion:-</a:t>
            </a:r>
          </a:p>
          <a:p>
            <a:pPr>
              <a:buFont typeface="Wingdings" pitchFamily="2" charset="2"/>
              <a:buChar char="q"/>
            </a:pP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</a:rPr>
              <a:t>Built a complete end-to-end Customer Churn Prediction &amp; Lifetime Value Analytics Platform using Python, SQL, Machine Learning, Power BI, and </a:t>
            </a:r>
            <a:r>
              <a:rPr lang="en-US" b="1" i="1" dirty="0" err="1" smtClean="0">
                <a:solidFill>
                  <a:schemeClr val="accent6">
                    <a:lumMod val="50000"/>
                  </a:schemeClr>
                </a:solidFill>
              </a:rPr>
              <a:t>FastAPI</a:t>
            </a:r>
            <a:r>
              <a:rPr lang="en-US" b="1" i="1" dirty="0" smtClean="0">
                <a:solidFill>
                  <a:schemeClr val="accent6">
                    <a:lumMod val="50000"/>
                  </a:schemeClr>
                </a:solidFill>
              </a:rPr>
              <a:t>.</a:t>
            </a:r>
          </a:p>
          <a:p>
            <a:pPr>
              <a:buNone/>
            </a:pPr>
            <a:endParaRPr lang="en-US" b="1" dirty="0" smtClean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304800"/>
            <a:ext cx="7498080" cy="6172200"/>
          </a:xfrm>
          <a:solidFill>
            <a:schemeClr val="bg2">
              <a:lumMod val="25000"/>
            </a:schemeClr>
          </a:solidFill>
          <a:ln w="38100">
            <a:solidFill>
              <a:srgbClr val="FF000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en-US" sz="7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THANKYOU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lstice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Civic">
      <a:majorFont>
        <a:latin typeface="Georgia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Georgia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193</TotalTime>
  <Words>392</Words>
  <Application>Microsoft Office PowerPoint</Application>
  <PresentationFormat>On-screen Show (4:3)</PresentationFormat>
  <Paragraphs>140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Solstice</vt:lpstr>
      <vt:lpstr>Customer Churn Prediction &amp; Lifetime Value Analytics Platform</vt:lpstr>
      <vt:lpstr>Business Problem Statement</vt:lpstr>
      <vt:lpstr>Project Objectives</vt:lpstr>
      <vt:lpstr>Dataset Overview</vt:lpstr>
      <vt:lpstr>Data Cleaning &amp; Preprocessing</vt:lpstr>
      <vt:lpstr>Exploratory Data Analysis (EDA)</vt:lpstr>
      <vt:lpstr>Feature Engineering</vt:lpstr>
      <vt:lpstr>Machine Learning Modeling</vt:lpstr>
      <vt:lpstr>Model Performance Comparison</vt:lpstr>
      <vt:lpstr>Best Model Selection</vt:lpstr>
      <vt:lpstr>Top Churn Drivers</vt:lpstr>
      <vt:lpstr>Customer Lifetime Value Analysis</vt:lpstr>
      <vt:lpstr>Business Intelligence Dashboards</vt:lpstr>
      <vt:lpstr>API Development &amp; SQL Validation</vt:lpstr>
      <vt:lpstr>API DEPLOYMENT WITH DOCKER</vt:lpstr>
      <vt:lpstr>Business Impact &amp; Conclusion</vt:lpstr>
      <vt:lpstr>THANKYOU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LENOVO</dc:creator>
  <cp:lastModifiedBy>LENOVO</cp:lastModifiedBy>
  <cp:revision>41</cp:revision>
  <dcterms:created xsi:type="dcterms:W3CDTF">2026-06-08T04:18:16Z</dcterms:created>
  <dcterms:modified xsi:type="dcterms:W3CDTF">2026-06-26T04:27:25Z</dcterms:modified>
</cp:coreProperties>
</file>