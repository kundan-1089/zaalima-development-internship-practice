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79B210A-7F51-4F67-9E37-B15D5C292BB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277E66-5BFE-4FB0-85BE-2682E214C7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79B210A-7F51-4F67-9E37-B15D5C292BB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277E66-5BFE-4FB0-85BE-2682E214C7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79B210A-7F51-4F67-9E37-B15D5C292BB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277E66-5BFE-4FB0-85BE-2682E214C7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79B210A-7F51-4F67-9E37-B15D5C292BB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277E66-5BFE-4FB0-85BE-2682E214C7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79B210A-7F51-4F67-9E37-B15D5C292BB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277E66-5BFE-4FB0-85BE-2682E214C7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79B210A-7F51-4F67-9E37-B15D5C292BB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277E66-5BFE-4FB0-85BE-2682E214C7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79B210A-7F51-4F67-9E37-B15D5C292BB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277E66-5BFE-4FB0-85BE-2682E214C7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79B210A-7F51-4F67-9E37-B15D5C292BB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277E66-5BFE-4FB0-85BE-2682E214C7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79B210A-7F51-4F67-9E37-B15D5C292BB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277E66-5BFE-4FB0-85BE-2682E214C7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79B210A-7F51-4F67-9E37-B15D5C292BB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277E66-5BFE-4FB0-85BE-2682E214C7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79B210A-7F51-4F67-9E37-B15D5C292BB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0277E66-5BFE-4FB0-85BE-2682E214C7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479B210A-7F51-4F67-9E37-B15D5C292BB4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90277E66-5BFE-4FB0-85BE-2682E214C7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782762"/>
          </a:xfrm>
          <a:solidFill>
            <a:schemeClr val="bg2">
              <a:lumMod val="25000"/>
            </a:schemeClr>
          </a:solidFill>
          <a:ln w="381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Customer Churn Prediction &amp; Lifetime Value Analytics Platform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35608" y="2133600"/>
            <a:ext cx="7498080" cy="4114800"/>
          </a:xfr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pPr algn="ctr">
              <a:buNone/>
            </a:pPr>
            <a:r>
              <a:rPr lang="en-US" b="1" dirty="0" smtClean="0"/>
              <a:t>Data Analyst Capstone Project</a:t>
            </a:r>
          </a:p>
          <a:p>
            <a:pPr algn="ctr">
              <a:buNone/>
            </a:pPr>
            <a:r>
              <a:rPr lang="en-US" dirty="0" smtClean="0"/>
              <a:t> </a:t>
            </a: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Tools Used 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Python 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SQL 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Power BI 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Machine Learning 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FastAPI</a:t>
            </a:r>
            <a:endParaRPr lang="en-US" sz="2400" dirty="0" smtClean="0">
              <a:solidFill>
                <a:schemeClr val="accent6">
                  <a:lumMod val="50000"/>
                </a:schemeClr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401762"/>
          </a:xfrm>
          <a:solidFill>
            <a:schemeClr val="bg2">
              <a:lumMod val="25000"/>
            </a:schemeClr>
          </a:solidFill>
          <a:ln w="381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/>
            <a:r>
              <a:rPr lang="en-US" sz="4400" dirty="0" smtClean="0"/>
              <a:t>Business Problem Statement</a:t>
            </a:r>
            <a:endParaRPr lang="en-US" sz="4400" dirty="0" smtClean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752600"/>
            <a:ext cx="7498080" cy="4495800"/>
          </a:xfr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q"/>
            </a:pP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Customer churn causing revenue loss Company </a:t>
            </a:r>
          </a:p>
          <a:p>
            <a:pPr>
              <a:buFont typeface="Wingdings" pitchFamily="2" charset="2"/>
              <a:buChar char="q"/>
            </a:pP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Unable to identify churn-risk customers </a:t>
            </a:r>
          </a:p>
          <a:p>
            <a:pPr>
              <a:buFont typeface="Wingdings" pitchFamily="2" charset="2"/>
              <a:buChar char="q"/>
            </a:pP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No customer value prioritization </a:t>
            </a:r>
          </a:p>
          <a:p>
            <a:pPr>
              <a:buFont typeface="Wingdings" pitchFamily="2" charset="2"/>
              <a:buChar char="q"/>
            </a:pPr>
            <a:r>
              <a:rPr lang="en-US" sz="36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Need data-driven retention strategy</a:t>
            </a:r>
            <a:endParaRPr lang="en-US" sz="3600" b="1" dirty="0" smtClean="0">
              <a:solidFill>
                <a:schemeClr val="accent6">
                  <a:lumMod val="50000"/>
                </a:schemeClr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401762"/>
          </a:xfrm>
          <a:solidFill>
            <a:schemeClr val="bg2">
              <a:lumMod val="25000"/>
            </a:schemeClr>
          </a:solidFill>
          <a:ln w="381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/>
            <a:r>
              <a:rPr lang="en-US" sz="4400" dirty="0" smtClean="0"/>
              <a:t>Project Objectives</a:t>
            </a:r>
            <a:endParaRPr lang="en-US" sz="4400" dirty="0" smtClean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752600"/>
            <a:ext cx="7498080" cy="4495800"/>
          </a:xfr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Predict customer churn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Identify churn drivers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Calculate Customer Lifetime Value (LTV)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Create Business Intelligence dashboards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Build API for prediction service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Support business decision making</a:t>
            </a:r>
          </a:p>
          <a:p>
            <a:pPr>
              <a:buNone/>
            </a:pPr>
            <a:endParaRPr lang="en-US" b="1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73162"/>
          </a:xfrm>
          <a:solidFill>
            <a:schemeClr val="bg2">
              <a:lumMod val="25000"/>
            </a:schemeClr>
          </a:solidFill>
          <a:ln w="381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/>
            <a:r>
              <a:rPr lang="en-US" sz="4400" dirty="0" smtClean="0"/>
              <a:t>Dataset Overview</a:t>
            </a:r>
            <a:endParaRPr lang="en-US" sz="4400" dirty="0" smtClean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524000"/>
            <a:ext cx="7498080" cy="4724400"/>
          </a:xfr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 fontScale="77500" lnSpcReduction="20000"/>
          </a:bodyPr>
          <a:lstStyle/>
          <a:p>
            <a:pPr algn="ctr">
              <a:buNone/>
            </a:pPr>
            <a:r>
              <a:rPr lang="en-US" sz="2400" b="1" u="sng" dirty="0" smtClean="0"/>
              <a:t>Dataset:- Telco Customer Churn Dataset</a:t>
            </a:r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r>
              <a:rPr lang="en-US" sz="2400" b="1" dirty="0" smtClean="0"/>
              <a:t>Key Facts:-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Total Records = 7043 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Final Records = 7032 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Target Variable = Churn </a:t>
            </a:r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r>
              <a:rPr lang="en-US" sz="2400" b="1" dirty="0" smtClean="0"/>
              <a:t>Important Columns:-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tenure 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contract 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internet_service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payment_method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monthly_charges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total_charges</a:t>
            </a: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churn</a:t>
            </a:r>
          </a:p>
          <a:p>
            <a:pPr>
              <a:buNone/>
            </a:pPr>
            <a:endParaRPr lang="en-US" sz="2400" b="1" u="sng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325562"/>
          </a:xfrm>
          <a:solidFill>
            <a:schemeClr val="bg2">
              <a:lumMod val="25000"/>
            </a:schemeClr>
          </a:solidFill>
          <a:ln w="381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/>
            <a:r>
              <a:rPr lang="en-US" sz="3900" dirty="0" smtClean="0"/>
              <a:t>Data Cleaning &amp; Preprocessing</a:t>
            </a:r>
            <a:endParaRPr lang="en-US" sz="3900" dirty="0" smtClean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676400"/>
            <a:ext cx="7498080" cy="4572000"/>
          </a:xfr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 lnSpcReduction="10000"/>
          </a:bodyPr>
          <a:lstStyle/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Missing value handling</a:t>
            </a:r>
          </a:p>
          <a:p>
            <a:pPr>
              <a:buFont typeface="Wingdings" pitchFamily="2" charset="2"/>
              <a:buChar char="q"/>
            </a:pP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TotalCharges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datatype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correction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Removed 11 invalid records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Duplicate check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Data validation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2800" b="1" dirty="0" smtClean="0"/>
              <a:t>Final Shape:-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7032 × 21</a:t>
            </a:r>
          </a:p>
          <a:p>
            <a:pPr>
              <a:buNone/>
            </a:pPr>
            <a:endParaRPr lang="en-US" b="1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325562"/>
          </a:xfrm>
          <a:solidFill>
            <a:schemeClr val="bg2">
              <a:lumMod val="25000"/>
            </a:schemeClr>
          </a:solidFill>
          <a:ln w="381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/>
            <a:r>
              <a:rPr lang="en-US" sz="3900" dirty="0" smtClean="0"/>
              <a:t>Exploratory Data Analysis (EDA)</a:t>
            </a:r>
            <a:endParaRPr lang="en-US" sz="3900" dirty="0" smtClean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676400"/>
            <a:ext cx="7498080" cy="4572000"/>
          </a:xfr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Key Findings:-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Churn Rate = 26.58%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Month-to-month customers churn highest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Fiber optic customers churn higher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Electronic check customers churn highest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Low tenure customers more likely to churn</a:t>
            </a:r>
          </a:p>
          <a:p>
            <a:pPr>
              <a:buNone/>
            </a:pPr>
            <a:endParaRPr lang="en-US" b="1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325562"/>
          </a:xfrm>
          <a:solidFill>
            <a:schemeClr val="bg2">
              <a:lumMod val="25000"/>
            </a:schemeClr>
          </a:solidFill>
          <a:ln w="381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/>
            <a:r>
              <a:rPr lang="en-US" sz="4400" dirty="0" smtClean="0"/>
              <a:t>Feature Engineering</a:t>
            </a:r>
            <a:endParaRPr lang="en-US" sz="4400" dirty="0" smtClean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676400"/>
            <a:ext cx="7498080" cy="4572000"/>
          </a:xfr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Created Features:-</a:t>
            </a:r>
          </a:p>
          <a:p>
            <a:pPr>
              <a:buFont typeface="Wingdings" pitchFamily="2" charset="2"/>
              <a:buChar char="q"/>
            </a:pP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Churn_Flag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>
              <a:buFont typeface="Wingdings" pitchFamily="2" charset="2"/>
              <a:buChar char="q"/>
            </a:pP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Tenure_Group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>
              <a:buFont typeface="Wingdings" pitchFamily="2" charset="2"/>
              <a:buChar char="q"/>
            </a:pP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Monthly_Charge_Group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>
              <a:buFont typeface="Wingdings" pitchFamily="2" charset="2"/>
              <a:buChar char="q"/>
            </a:pP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Customer_Value_Segment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>
              <a:buFont typeface="Wingdings" pitchFamily="2" charset="2"/>
              <a:buChar char="q"/>
            </a:pP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High_Risk_Flag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Business Benefit:-</a:t>
            </a:r>
          </a:p>
          <a:p>
            <a:pPr>
              <a:buFont typeface="Wingdings" pitchFamily="2" charset="2"/>
              <a:buChar char="q"/>
            </a:pP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Improved model understanding and customer segmentation</a:t>
            </a:r>
          </a:p>
          <a:p>
            <a:endParaRPr lang="en-US" b="1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401762"/>
          </a:xfrm>
          <a:solidFill>
            <a:schemeClr val="bg2">
              <a:lumMod val="25000"/>
            </a:schemeClr>
          </a:solidFill>
          <a:ln w="381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/>
            <a:r>
              <a:rPr lang="en-US" sz="4400" dirty="0" smtClean="0">
                <a:solidFill>
                  <a:schemeClr val="bg1"/>
                </a:solidFill>
              </a:rPr>
              <a:t>Machine Learning Modeling</a:t>
            </a:r>
            <a:endParaRPr lang="en-US" sz="4400" dirty="0" smtClean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752600"/>
            <a:ext cx="7498080" cy="4495800"/>
          </a:xfr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>
              <a:buNone/>
            </a:pPr>
            <a:endParaRPr lang="en-US" sz="2800" b="1" dirty="0" smtClean="0"/>
          </a:p>
          <a:p>
            <a:pPr>
              <a:buNone/>
            </a:pPr>
            <a:r>
              <a:rPr lang="en-US" sz="2800" b="1" dirty="0" smtClean="0"/>
              <a:t>Models Developed:-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Logistic Regression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Logistic Regression + SMOTE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Random Forest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Random Forest + SMOTE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XGBoost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XGBoost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+ SMOTE</a:t>
            </a:r>
          </a:p>
          <a:p>
            <a:pPr>
              <a:lnSpc>
                <a:spcPct val="80000"/>
              </a:lnSpc>
            </a:pPr>
            <a:endParaRPr lang="en-US" sz="3000" b="1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325562"/>
          </a:xfrm>
          <a:solidFill>
            <a:schemeClr val="bg2">
              <a:lumMod val="25000"/>
            </a:schemeClr>
          </a:solidFill>
          <a:ln w="381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/>
            <a:r>
              <a:rPr lang="en-US" sz="3900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Model Performance Comparison</a:t>
            </a:r>
          </a:p>
        </p:txBody>
      </p:sp>
      <p:pic>
        <p:nvPicPr>
          <p:cNvPr id="4" name="Content Placeholder 3" descr="Screenshot 2026-06-08 120248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5100" y="1676400"/>
            <a:ext cx="7499350" cy="457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325562"/>
          </a:xfrm>
          <a:solidFill>
            <a:schemeClr val="bg2">
              <a:lumMod val="25000"/>
            </a:schemeClr>
          </a:solidFill>
          <a:ln w="381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/>
            <a:r>
              <a:rPr lang="en-US" sz="4400" dirty="0" smtClean="0"/>
              <a:t>Best Model Selection</a:t>
            </a:r>
            <a:endParaRPr lang="en-US" sz="4400" dirty="0" smtClean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676400"/>
            <a:ext cx="7498080" cy="4572000"/>
          </a:xfr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Selected Model:-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Random Forest + SMOTE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Performance:-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Accuracy = 83.6%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Precision = 82.2%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Recall = 85.6%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F1 Score = 83.9%</a:t>
            </a:r>
          </a:p>
          <a:p>
            <a:endParaRPr lang="en-US" b="1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325562"/>
          </a:xfrm>
          <a:solidFill>
            <a:schemeClr val="bg2">
              <a:lumMod val="25000"/>
            </a:schemeClr>
          </a:solidFill>
          <a:ln w="381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/>
            <a:r>
              <a:rPr lang="en-US" sz="4400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Top Churn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676400"/>
            <a:ext cx="7498080" cy="4572000"/>
          </a:xfr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Top Features:-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MonthlyCharges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tenure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TotalCharges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Contract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OnlineSecurity</a:t>
            </a:r>
            <a:endParaRPr lang="en-US" sz="2800" dirty="0" smtClean="0">
              <a:solidFill>
                <a:schemeClr val="accent6">
                  <a:lumMod val="50000"/>
                </a:schemeClr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b="1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325562"/>
          </a:xfrm>
          <a:solidFill>
            <a:schemeClr val="bg2">
              <a:lumMod val="25000"/>
            </a:schemeClr>
          </a:solidFill>
          <a:ln w="381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/>
            <a:r>
              <a:rPr lang="en-US" sz="4000" dirty="0" smtClean="0"/>
              <a:t>Customer Lifetime Value Analysis</a:t>
            </a:r>
            <a:endParaRPr lang="en-US" sz="4000" dirty="0" smtClean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676400"/>
            <a:ext cx="7498080" cy="4572000"/>
          </a:xfr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i="1" dirty="0" smtClean="0"/>
              <a:t>Formula:-</a:t>
            </a:r>
          </a:p>
          <a:p>
            <a:pPr>
              <a:buFont typeface="Wingdings" pitchFamily="2" charset="2"/>
              <a:buChar char="q"/>
            </a:pP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</a:rPr>
              <a:t>LTV =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</a:rPr>
              <a:t>MonthlyCharges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</a:rPr>
              <a:t> × Tenure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Segments:-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Low Value 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Medium Value 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High Value 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Premium Value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i="1" dirty="0" smtClean="0"/>
              <a:t>Key Finding:-</a:t>
            </a:r>
          </a:p>
          <a:p>
            <a:pPr>
              <a:buFont typeface="Wingdings" pitchFamily="2" charset="2"/>
              <a:buChar char="q"/>
            </a:pP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</a:rPr>
              <a:t>Premium customers generate maximum revenue.</a:t>
            </a:r>
          </a:p>
          <a:p>
            <a:pPr>
              <a:buNone/>
            </a:pPr>
            <a:endParaRPr lang="en-US" b="1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325562"/>
          </a:xfrm>
          <a:solidFill>
            <a:schemeClr val="bg2">
              <a:lumMod val="25000"/>
            </a:schemeClr>
          </a:solidFill>
          <a:ln w="381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/>
            <a:r>
              <a:rPr lang="en-US" sz="4000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Business Intelligence Dashboards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676400"/>
            <a:ext cx="7498080" cy="4572000"/>
          </a:xfr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4 dashboard:-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Executive Overview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Churn Intelligence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LTV &amp; Revenue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ML Performance </a:t>
            </a:r>
            <a:endParaRPr lang="en-US" sz="2800" dirty="0" smtClean="0"/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Key Benefit:-</a:t>
            </a:r>
          </a:p>
          <a:p>
            <a:pPr>
              <a:buFont typeface="Wingdings" pitchFamily="2" charset="2"/>
              <a:buChar char="q"/>
            </a:pPr>
            <a:r>
              <a:rPr lang="en-US" sz="2800" b="1" i="1" dirty="0" smtClean="0">
                <a:solidFill>
                  <a:schemeClr val="accent6">
                    <a:lumMod val="50000"/>
                  </a:schemeClr>
                </a:solidFill>
              </a:rPr>
              <a:t>Business-friendly decision support.</a:t>
            </a:r>
          </a:p>
          <a:p>
            <a:pPr>
              <a:buNone/>
            </a:pPr>
            <a:endParaRPr lang="en-US" b="1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325562"/>
          </a:xfrm>
          <a:solidFill>
            <a:schemeClr val="bg2">
              <a:lumMod val="25000"/>
            </a:schemeClr>
          </a:solidFill>
          <a:ln w="381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/>
            <a:r>
              <a:rPr lang="en-US" sz="4000" dirty="0" smtClean="0"/>
              <a:t>API Development &amp; SQL Validation</a:t>
            </a:r>
            <a:endParaRPr lang="en-US" sz="4000" dirty="0" smtClean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676400"/>
            <a:ext cx="7498080" cy="4572000"/>
          </a:xfr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API:-</a:t>
            </a:r>
          </a:p>
          <a:p>
            <a:pPr>
              <a:buFont typeface="Wingdings" pitchFamily="2" charset="2"/>
              <a:buChar char="q"/>
            </a:pP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</a:rPr>
              <a:t>FastAPI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Swagger UI 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Churn Prediction Endpoint 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LTV Estimation Endpoint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SQL:-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Churn validation 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Revenue validation 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LTV validation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Key Result:-</a:t>
            </a:r>
          </a:p>
          <a:p>
            <a:pPr>
              <a:buFont typeface="Wingdings" pitchFamily="2" charset="2"/>
              <a:buChar char="q"/>
            </a:pP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</a:rPr>
              <a:t>Python + SQL + Power BI outputs fully aligned.</a:t>
            </a:r>
          </a:p>
          <a:p>
            <a:pPr>
              <a:buNone/>
            </a:pPr>
            <a:endParaRPr lang="en-US" b="1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249362"/>
          </a:xfrm>
          <a:solidFill>
            <a:schemeClr val="bg2">
              <a:lumMod val="25000"/>
            </a:schemeClr>
          </a:solidFill>
          <a:ln w="381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/>
            <a:r>
              <a:rPr lang="en-US" sz="3900" dirty="0" smtClean="0"/>
              <a:t>Business Impact &amp; Conclusion</a:t>
            </a:r>
            <a:endParaRPr lang="en-US" sz="3900" dirty="0" smtClean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600200"/>
            <a:ext cx="7498080" cy="4648200"/>
          </a:xfr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Impact:-</a:t>
            </a:r>
          </a:p>
          <a:p>
            <a:pPr>
              <a:buFont typeface="Wingdings" pitchFamily="2" charset="2"/>
              <a:buChar char="q"/>
            </a:pPr>
            <a:r>
              <a:rPr lang="en-US" sz="40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Identify churn-risk customers</a:t>
            </a:r>
          </a:p>
          <a:p>
            <a:pPr>
              <a:buFont typeface="Wingdings" pitchFamily="2" charset="2"/>
              <a:buChar char="q"/>
            </a:pPr>
            <a:r>
              <a:rPr lang="en-US" sz="40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Protect premium customers</a:t>
            </a:r>
          </a:p>
          <a:p>
            <a:pPr>
              <a:buFont typeface="Wingdings" pitchFamily="2" charset="2"/>
              <a:buChar char="q"/>
            </a:pPr>
            <a:r>
              <a:rPr lang="en-US" sz="40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Improve retention strategy</a:t>
            </a:r>
          </a:p>
          <a:p>
            <a:pPr>
              <a:buFont typeface="Wingdings" pitchFamily="2" charset="2"/>
              <a:buChar char="q"/>
            </a:pPr>
            <a:r>
              <a:rPr lang="en-US" sz="40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Reduce revenue loss</a:t>
            </a:r>
          </a:p>
          <a:p>
            <a:pPr>
              <a:buFont typeface="Wingdings" pitchFamily="2" charset="2"/>
              <a:buChar char="q"/>
            </a:pPr>
            <a:r>
              <a:rPr lang="en-US" sz="40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Support data-driven decisions</a:t>
            </a:r>
          </a:p>
          <a:p>
            <a:pPr>
              <a:buNone/>
            </a:pPr>
            <a:endParaRPr lang="en-US" dirty="0" smtClean="0">
              <a:solidFill>
                <a:schemeClr val="accent6">
                  <a:lumMod val="50000"/>
                </a:schemeClr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b="1" dirty="0" smtClean="0"/>
              <a:t>Final Conclusion:-</a:t>
            </a:r>
          </a:p>
          <a:p>
            <a:pPr>
              <a:buFont typeface="Wingdings" pitchFamily="2" charset="2"/>
              <a:buChar char="q"/>
            </a:pP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</a:rPr>
              <a:t>Built a complete end-to-end Customer Churn Prediction &amp; Lifetime Value Analytics Platform using Python, SQL, Machine Learning, Power BI, and 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</a:rPr>
              <a:t>FastAPI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  <a:p>
            <a:pPr>
              <a:buNone/>
            </a:pPr>
            <a:endParaRPr lang="en-US" b="1" dirty="0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04800"/>
            <a:ext cx="7498080" cy="6172200"/>
          </a:xfrm>
          <a:solidFill>
            <a:schemeClr val="bg2">
              <a:lumMod val="25000"/>
            </a:schemeClr>
          </a:solidFill>
          <a:ln w="3810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/>
            <a:r>
              <a:rPr lang="en-US" sz="7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THANKYOU</a:t>
            </a:r>
            <a:endParaRPr lang="en-US" sz="7200" dirty="0" smtClean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166</TotalTime>
  <Words>388</Words>
  <Application>Microsoft Office PowerPoint</Application>
  <PresentationFormat>On-screen Show (4:3)</PresentationFormat>
  <Paragraphs>139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Solstice</vt:lpstr>
      <vt:lpstr>Customer Churn Prediction &amp; Lifetime Value Analytics Platform</vt:lpstr>
      <vt:lpstr>Business Problem Statement</vt:lpstr>
      <vt:lpstr>Project Objectives</vt:lpstr>
      <vt:lpstr>Dataset Overview</vt:lpstr>
      <vt:lpstr>Data Cleaning &amp; Preprocessing</vt:lpstr>
      <vt:lpstr>Exploratory Data Analysis (EDA)</vt:lpstr>
      <vt:lpstr>Feature Engineering</vt:lpstr>
      <vt:lpstr>Machine Learning Modeling</vt:lpstr>
      <vt:lpstr>Model Performance Comparison</vt:lpstr>
      <vt:lpstr>Best Model Selection</vt:lpstr>
      <vt:lpstr>Top Churn Drivers</vt:lpstr>
      <vt:lpstr>Customer Lifetime Value Analysis</vt:lpstr>
      <vt:lpstr>Business Intelligence Dashboards</vt:lpstr>
      <vt:lpstr>API Development &amp; SQL Validation</vt:lpstr>
      <vt:lpstr>Business Impact &amp; Conclusion</vt:lpstr>
      <vt:lpstr>THANKYOU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LENOVO</dc:creator>
  <cp:lastModifiedBy>LENOVO</cp:lastModifiedBy>
  <cp:revision>37</cp:revision>
  <dcterms:created xsi:type="dcterms:W3CDTF">2026-06-08T04:18:16Z</dcterms:created>
  <dcterms:modified xsi:type="dcterms:W3CDTF">2026-06-09T03:45:09Z</dcterms:modified>
</cp:coreProperties>
</file>